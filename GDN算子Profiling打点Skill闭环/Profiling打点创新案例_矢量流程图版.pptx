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#FFFFFF', padding: '20px 40px', flexDirection: 'column', fontFamily: 'Microsoft YaHei' }}&gt;&#13;&#10;&#13;&#10;    {/* ================= A 区 · 标题块（63px） ================= */}&#13;&#10;    &lt;Box style={{ flexDirection: 'column' }}&gt;&#13;&#10;        &lt;Box style={{ flexDirection: 'row', alignItems: 'center', gap: 12, height: 42 }}&gt;&#13;&#10;            &lt;Box style={{ width: 5, height: 26, background: '#C0392B' }} /&gt;&#13;&#10;            &lt;Text style={{ fontSize: 27, fontWeight: 'bold', color: '#C0392B', fontFamily: 'SimHei', lineHeight: 1.2 }}&gt;&#13;&#10;                Profiling 打点工具及其在 GDN / GMM 算子优化中的应用&#13;&#10;            &lt;/Text&gt;&#13;&#10;        &lt;/Box&gt;&#13;&#10;        &lt;Text style={{ fontSize: 12.5, color: '#6E6E6E', lineHeight: 1.4, marginTop: 3, marginLeft: 17 }}&gt;&#13;&#10;            可移植的算子源码级打点，取回真机细粒度时序；Profiling 打点 Skill 与上板实测形成闭环并持续迭代&#13;&#10;        &lt;/Text&gt;&#13;&#10;    &lt;/Box&gt;&#13;&#10;    &lt;Box style={{ height: 1, background: '#E3E3E3', marginTop: 5 }} /&gt;&#13;&#10;&#13;&#10;    {/* ================= B 区 · 内容区（575px） ================= */}&#13;&#10;    &lt;Box style={{ flexDirection: 'row', height: 575, gap: 20, marginTop: 8 }}&gt;&#13;&#10;&#13;&#10;        {/* ---------- 左栏：01 背景与痛点 + 02 方案设计 ---------- */}&#13;&#10;        &lt;Box style={{ width: 628, flexDirection: 'column', gap: 14 }}&gt;&#13;&#10;&#13;&#10;            {/* 01 背景与痛点 */}&#13;&#10;            &lt;Box style={{ height: 258, background: '#FFFFFF', border: '1px solid #E6E6E6', borderRadius: 6, padding: '14px 16px' }}&gt;&#13;&#10;                &lt;Box style={{ flexDirection: 'row', alignItems: 'center' }}&gt;&#13;&#10;                    &lt;Box style={{ width: 24, height: 24, background: '#C0392B', borderRadius: 4, alignItems: 'center', justifyContent: 'center' }}&gt;&#13;&#10;                        &lt;Text style={{ fontSize: 12, fontWeight: 'bold', color: '#FFFFFF' }}&gt;01&lt;/Text&gt;&#13;&#10;                    &lt;/Box&gt;&#13;&#10;                    &lt;Text style={{ fontSize: 15, fontWeight: 'bold', color: '#1A1A1A', marginLeft: 10 }}&gt;背景与痛点&lt;/Text&gt;&#13;&#10;                    &lt;Text style={{ fontSize: 10.5, color: '#8C8C8C', marginLeft: 'auto' }}&gt;为什么必须自研源码级打点&lt;/Text&gt;&#13;&#10;                &lt;/Box&gt;&#13;&#10;&#13;&#10;                &lt;Box style={{ flexDirection: 'row', gap: 12, marginTop: 12, height: 156 }}&gt;&#13;&#10;&#13;&#10;                    {/* 痛点 1：只有组件耗时 */}&#13;&#10;                    &lt;Box style={{ flex: 1, background: '#FFFFFF', border: '1px solid #EDEDED', borderRadius: 5, padding: '8px 11px' }}&gt;&#13;&#10;                        &lt;Box style={{ height: 66, background: '#FAFAFA', borderRadius: 4, padding: '6px 9px', flexDirection: 'column', gap: 6 }}&gt;&#13;&#10;                            &lt;Box style={{ flexDirection: 'row', alignItems: 'center', gap: 6 }}&gt;&#13;&#10;                                &lt;Text style={{ fontSize: 9.5, color: '#6E6E6E', width: 46 }}&gt;组件级&lt;/Text&gt;&#13;&#10;                                &lt;Box style={{ flex: 1, height: 12, flexDirection: 'row', borderRadius: 2 }}&gt;&#13;&#10;                                    &lt;Box style={{ width: 76, background: '#D9D9D9' }} /&gt;&#13;&#10;                                    &lt;Box style={{ width: 46, background: '#C0392B' }} /&gt;&#13;&#10;                                    &lt;Box style={{ width: 60, background: '#D9D9D9' }} /&gt;&#13;&#10;                                &lt;/Box&gt;&#13;&#10;                                &lt;Text style={{ fontSize: 10, color: '#4E9E70', fontWeight: 'bold' }}&gt;&amp;#10003;&lt;/Text&gt;&#13;&#10;                            &lt;/Box&gt;&#13;&#10;                            &lt;Box style={{ flexDirection: 'row', alignItems: 'center', gap: 6 }}&gt;&#13;&#10;                                &lt;Text style={{ fontSize: 9.5, color: '#6E6E6E', width: 46 }}&gt;Kernel 内&lt;/Text&gt;&#13;&#10;                                &lt;Box style={{ flex: 1, height: 12, flexDirection: 'row', gap: 4 }}&gt;&#13;&#10;                                    &lt;Box style={{ flex: 1, background: '#FFFFFF', border: '1px dashed #C9C9C9', borderRadius: 2 }} /&gt;&#13;&#10;                                    &lt;Box style={{ flex: 1, background: '#FFFFFF', border: '1px dashed #C9C9C9', borderRadius: 2 }} /&gt;&#13;&#10;                                    &lt;Box style={{ flex: 1, background: '#FFFFFF', border: '1px dashed #C9C9C9', borderRadius: 2 }} /&gt;&#13;&#10;                                    &lt;Box style={{ flex: 1, background: '#FFFFFF', border: '1px dashed #C9C9C9', borderRadius: 2 }} /&gt;&#13;&#10;                                    &lt;Box style={{ flex: 1, background: '#FFFFFF', border: '1px dashed #C9C9C9', borderRadius: 2 }} /&gt;&#13;&#10;                                &lt;/Box&gt;&#13;&#10;                                &lt;Text style={{ fontSize: 10, color: '#C0392B', fontWeight: 'bold' }}&gt;&amp;#10005;&lt;/Text&gt;&#13;&#10;                            &lt;/Box&gt;&#13;&#10;                            &lt;Text style={{ fontSize: 9, color: '#8C8C8C', lineHeight: 1.3 }}&gt;&#13;&#10;                                只有总耗时与占比，各阶段耗时无数据&#13;&#10;                            &lt;/Text&gt;&#13;&#10;                        &lt;/Box&gt;&#13;&#10;                        &lt;Text style={{ fontSize: 12.5, fontWeight: 'bold', color: '#1A1A1A', lineHeight: 1.3, marginTop: 7 }}&gt;&#13;&#10;                            只有组件耗时，撑不起算子调优&#13;&#10;                        &lt;/Text&gt;&#13;&#10;                        &lt;Text style={{ fontSize: 11, color: '#6E6E6E', lineHeight: 1.5, marginTop: 4 }}&gt;&#13;&#10;                            msprof 只能给出各组件总耗时与占比，拿不到 Kernel 内各阶段耗时数据&#13;&#10;                        &lt;/Text&gt;&#13;&#10;                    &lt;/Box&gt;&#13;&#10;&#13;&#10;                    {/* 痛点 2：流水图来自仿真 */}&#13;&#10;                    &lt;Box style={{ flex: 1, background: '#FFFFFF', border: '1px solid #EDEDED', borderRadius: 5, padding: '8px 11px' }}&gt;&#13;&#10;                        &lt;Box style={{ height: 66, background: '#FAFAFA', borderRadius: 4, padding: '6px 9px', flexDirection: 'column', gap: 6 }}&gt;&#13;&#10;                            &lt;Box style={{ flexDirection: 'row', alignItems: 'center', gap: 6 }}&gt;&#13;&#10;                                &lt;Text style={{ fontSize: 9.5, color: '#6E6E6E', width: 46 }}&gt;仿真器&lt;/Text&gt;&#13;&#10;                                &lt;Box style={{ flex: 1, height: 12, flexDirection: 'row', borderRadius: 2 }}&gt;&#13;&#10;                                    &lt;Box style={{ width: 62, background: '#D9D9D9' }} /&gt;&#13;&#10;                                    &lt;Box style={{ width: 38, background: '#B9B9B9' }} /&gt;&#13;&#10;                                    &lt;Box style={{ width: 82, background: '#D9D9D9' }} /&gt;&#13;&#10;                                &lt;/Box&gt;&#13;&#10;                                &lt;Text style={{ fontSize: 10, color: '#4E9E70', fontWeight: 'bold' }}&gt;&amp;#10003;&lt;/Text&gt;&#13;&#10;                            &lt;/Box&gt;&#13;&#10;                            &lt;Box style={{ flexDirection: 'row', alignItems: 'center', gap: 6 }}&gt;&#13;&#10;                                &lt;Text style={{ fontSize: 9.5, color: '#6E6E6E', width: 46 }}&gt;上板实测&lt;/Text&gt;&#13;&#10;                                &lt;Box style={{ flex: 1, height: 12, flexDirection: 'row', borderRadius: 2 }}&gt;&#13;&#10;                                    &lt;Box style={{ width: 72, background: '#F0D9D4' }} /&gt;&#13;&#10;                                    &lt;Box style={{ width: 32, background: '#F0D9D4' }} /&gt;&#13;&#10;                                    &lt;Box style={{ width: 78, background: '#F0D9D4' }} /&gt;&#13;&#10;                                &lt;/Box&gt;&#13;&#10;                                &lt;Text style={{ fontSize: 10, color: '#C0392B', fontWeight: 'bold' }}&gt;&amp;#10005;&lt;/Text&gt;&#13;&#10;                            &lt;/Box&gt;&#13;&#10;                            &lt;Text style={{ fontSize: 9, color: '#8C8C8C', lineHeight: 1.3 }}&gt;&#13;&#10;                                流水图取自仿真数据，非真机实测结果&#13;&#10;                            &lt;/Text&gt;&#13;&#10;                        &lt;/Box&gt;&#13;&#10;                        &lt;Text style={{ fontSize: 12.5, fontWeight: 'bold', color: '#1A1A1A', lineHeight: 1.3, marginTop: 7 }}&gt;&#13;&#10;                            流水图来自仿真，不等于真机&#13;&#10;                        &lt;/Text&gt;&#13;&#10;                        &lt;Text style={{ fontSize: 11, color: '#6E6E6E', lineHeight: 1.5, marginTop: 4 }}&gt;&#13;&#10;                            现有流水图基于仿真器性能仿真数据，并非实际上板测试&#13;&#10;                        &lt;/Text&gt;&#13;&#10;                    &lt;/Box&gt;&#13;&#10;                &lt;/Box&gt;&#13;&#10;&#13;&#10;                &lt;Box style={{ background: '#FBEEEB', borderRadius: 4, padding: '6px 12px', marginTop: 6 }}&gt;&#13;&#10;                    &lt;Text style={{ fontSize: 11.5, color: '#8E2B22', lineHeight: 1.5 }}&gt;&#13;&#10;                        因此需要&lt;span style={{ fontWeight: 'bold', color: '#C0392B' }}&gt;可移植的算子源码级 Profiling 打点工具&lt;/span&gt;，获取细粒度、差异化的实测数据用于流水图分析&#13;&#10;                    &lt;/Text&gt;&#13;&#10;                &lt;/Box&gt;&#13;&#10;            &lt;/Box&gt;&#13;&#10;&#13;&#10;            {/* 02 方案设计 */}&#13;&#10;            &lt;Box style={{ height: 303, background: '#FFFFFF', border: '1px solid #E6E6E6', borderRadius: 6, padding: '14px 16px' }}&gt;&#13;&#10;                &lt;Box style={{ flexDirection: 'row', alignItems: 'center' }}&gt;&#13;&#10;                    &lt;Box style={{ width: 24, height: 24, background: '#C0392B', borderRadius: 4, alignItems: 'center', justifyContent: 'center' }}&gt;&#13;&#10;                        &lt;Text style={{ fontSize: 12, fontWeight: 'bold', color: '#FFFFFF' }}&gt;02&lt;/Text&gt;&#13;&#10;                    &lt;/Box&gt;&#13;&#10;                    &lt;Text style={{ fontSize: 15, fontWeight: 'bold', color: '#1A1A1A', marginLeft: 10 }}&gt;方案设计&lt;/Text&gt;&#13;&#10;                    &lt;Text style={{ fontSize: 10.5, color: '#8C8C8C', marginLeft: 'auto' }}&gt;打点 Skill 与实测闭环&lt;/Text&gt;&#13;&#10;                &lt;/Box&gt;&#13;&#10;&#13;&#10;                &lt;Text style={{ fontSize: 12, color: '#1A1A1A', lineHeight: 1.5, marginTop: 10 }}&gt;&#13;&#10;                    给原始算子工程接入&lt;span style={{ fontWeight: 'bold', color: '#C0392B' }}&gt;内核计时能力&lt;/span&gt;，生成&lt;span style={{ fontWeight: 'bold', color: '#C0392B' }}&gt;每核每阶段 CSV&lt;/span&gt; 与可视化数据，用于定位 Kernel 内各阶段耗时、AIV / AIC 核间负载均衡与等待空隙。&#13;&#10;                &lt;/Text&gt;&#13;&#10;&#13;&#10;                &lt;Box style={{ position: 'relative', width: 594, height: 164, marginTop: 6 }}&gt;&#13;&#10;&#13;&#10;                    {/* ---- 主链路连线 ---- */}&#13;&#10;                    &lt;Box style={{ position: 'absolute', left: 104, top: 41, width: 20, height: 2, background: '#7A7A7A' }} /&gt;&#13;&#10;                    &lt;Box style={{ position: 'absolute', left: 280, top: 41, width: 20, height: 2, background: '#7A7A7A' }} /&gt;&#13;&#10;                    &lt;Box style={{ position: 'absolute', left: 408, top: 41, width: 20, height: 2, background: '#7A7A7A' }} /&gt;&#13;&#10;                    &lt;Box style={{ position: 'absolute', left: 472, top: 67, width: 2, height: 17, background: '#7A7A7A' }} /&gt;&#13;&#10;                    &lt;Box style={{ position: 'absolute', left: 286, top: 83, width: 187, height: 2, background: '#7A7A7A' }} /&gt;&#13;&#10;                    &lt;Box style={{ position: 'absolute', left: 473, top: 83, width: 37, height: 2, background: '#7A7A7A' }} /&gt;&#13;&#10;                    &lt;Box style={{ position: 'absolute', left: 285, top: 84, width: 2, height: 20, background: '#7A7A7A' }} /&gt;&#13;&#10;                    &lt;Box style={{ position: 'absolute', left: 509, top: 84, width: 2, height: 20, background: '#7A7A7A' }} /&gt;&#13;&#10;&#13;&#10;                    {/* ---- 分支：否 / 是 ---- */}&#13;&#10;                    &lt;Box style={{ position: 'absolute', left: 201, top: 68, width: 2, height: 26, background: '#C0392B' }} /&gt;&#13;&#10;                    &lt;Box style={{ position: 'absolute', left: 57, top: 94, width: 2, height: 64, background: '#C0392B' }} /&gt;&#13;&#10;                    &lt;Box style={{ position: 'absolute', left: 285, top: 152, width: 2, height: 6, background: '#C0392B' }} /&gt;&#13;&#10;                    &lt;Box style={{ position: 'absolute', left: 58, top: 157, width: 6, height: 2, background: '#C0392B' }} /&gt;&#13;&#10;                    &lt;Box style={{ position: 'absolute', left: 72, top: 157, width: 6, height: 2, background: '#C0392B' }} /&gt;&#13;&#10;                    &lt;Box style={{ position: 'absolute', left: 86, top: 157, width: 6, height: 2, background: '#C0392B' }} /&gt;&#13;&#10;                    &lt;Box style={{ position: 'absolute', left: 100, top: 157, width: 6, height: 2, background: '#C0392B' }} /&gt;&#13;&#10;                    &lt;Box style={{ position: 'absolute', left: 114, top: 157, width: 6, height: 2, background: '#C0392B' }} /&gt;&#13;&#10;                    &lt;Box style={{ position: 'absolute', left: 128, top: 157, width: 6, height: 2, background: '#C0392B' }} /&gt;&#13;&#10;                    &lt;Box style={{ position: 'absolute', left: 142, top: 157, width: 6, height: 2, background: '#C0392B' }} /&gt;&#13;&#10;                    &lt;Box style={{ position: 'absolute', left: 156, top: 157, width: 6, height: 2, background: '#C0392B' }} /&gt;&#13;&#10;                    &lt;Box style={{ position: 'absolute', left: 170, top: 157, width: 6, height: 2, background: '#C0392B' }} /&gt;&#13;&#10;                    &lt;Box style={{ position: 'absolute', left: 184, top: 157, width: 6, height: 2, background: '#C0392B' }} /&gt;&#13;&#10;                    &lt;Box style={{ position: 'absolute', left: 198, top: 157, width: 6, height: 2, background: '#C0392B' }} /&gt;&#13;&#10;                    &lt;Box style={{ position: 'absolute', left: 212, top: 157, width: 6, height: 2, background: '#C0392B' }} /&gt;&#13;&#10;                    &lt;Box style={{ position: 'absolute', left: 226, top: 157, width: 6, height: 2, background: '#C0392B' }} /&gt;&#13;&#10;                    &lt;Box style={{ position: 'absolute', left: 240, top: 157, width: 6, height: 2, background: '#C0392B' }} /&gt;&#13;&#10;                    &lt;Box style={{ position: 'absolute', left: 254, top: 157, width: 6, height: 2, background: '#C0392B' }} /&gt;&#13;&#10;                    &lt;Box style={{ position: 'absolute', left: 268, top: 157, width: 6, height: 2, background: '#C0392B' }} /&gt;&#13;&#10;                    &lt;Box style={{ position: 'absolute', left: 282, top: 157, width: 6, height: 2, background: '#C0392B' }} /&gt;&#13;&#10;                    &lt;Box style={{ position: 'absolute', left: 58, top: 93, width: 6, height: 2, background: '#C0392B' }} /&gt;&#13;&#10;                    &lt;Box style={{ position: 'absolute', left: 72, top: 93, width: 6, height: 2, background: '#C0392B' }} /&gt;&#13;&#10;                    &lt;Box style={{ position: 'absolute', left: 86, top: 93, width: 6, height: 2, background: '#C0392B' }} /&gt;&#13;&#10;                    &lt;Box style={{ position: 'absolute', left: 100, top: 93, width: 6, height: 2, background: '#C0392B' }} /&gt;&#13;&#10;                    &lt;Box style={{ position: 'absolute', left: 114, top: 93, width: 6, height: 2, background: '#C0392B' }} /&gt;&#13;&#10;                    &lt;Box style={{ position: 'absolute', left: 128, top: 93, width: 6, height: 2, background: '#C0392B' }} /&gt;&#13;&#10;                    &lt;Box style={{ position: 'absolute', left: 142, top: 93, width: 6, height: 2, background: '#C0392B' }} /&gt;&#13;&#10;                    &lt;Box style={{ position: 'absolute', left: 156, top: 93, width: 6, height: 2, background: '#C0392B' }} /&gt;&#13;&#10;                    &lt;Box style={{ position: 'absolute', left: 170, top: 93, width: 6, height: 2, background: '#C0392B' }} /&gt;&#13;&#10;                    &lt;Box style={{ position: 'absolute', left: 184, top: 93, width: 6, height: 2, background: '#C0392B' }} /&gt;&#13;&#10;                    &lt;Box style={{ position: 'absolute', left: 198, top: 93, width: 6, height: 2, background: '#C0392B' }} /&gt;&#13;&#10;&#13;&#10;                    {/* ---- 箭头 ---- */}&#13;&#10;                    &lt;Box style={{ position: 'absolute', left: 116, top: 35, width: 16, height: 14, alignItems: 'center', justifyContent: 'center' }}&gt;&#13;&#10;                        &lt;Text style={{ fontSize: 11, color: '#7A7A7A' }}&gt;&amp;#9654;&lt;/Text&gt;&#13;&#10;                    &lt;/Box&gt;&#13;&#10;                    &lt;Box style={{ position: 'absolute', left: 292, top: 35, width: 16, height: 14, alignItems: 'center', justifyContent: 'center' }}&gt;&#13;&#10;                        &lt;Text style={{ fontSize: 11, color: '#7A7A7A' }}&gt;&amp;#9654;&lt;/Text&gt;&#13;&#10;                    &lt;/Box&gt;&#13;&#10;                    &lt;Box style={{ position: 'absolute', left: 420, top: 35, width: 16, height: 14, alignItems: 'center', justifyContent: 'center' }}&gt;&#13;&#10;                        &lt;Text style={{ fontSize: 11, color: '#7A7A7A' }}&gt;&amp;#9654;&lt;/Text&gt;&#13;&#10;                    &lt;/Box&gt;&#13;&#10;                    &lt;Box style={{ position: 'absolute', left: 280, top: 97, width: 12, height: 12, alignItems: 'center', justifyContent: 'center' }}&gt;&#13;&#10;                        &lt;Text style={{ fontSize: 10, color: '#7A7A7A' }}&gt;&amp;#9660;&lt;/Text&gt;&#13;&#10;                    &lt;/Box&gt;&#13;&#10;                    &lt;Box style={{ position: 'absolute', left: 504, top: 97, width: 12, height: 12, alignItems: 'center', justifyContent: 'center' }}&gt;&#13;&#10;                        &lt;Text style={{ fontSize: 10, color: '#7A7A7A' }}&gt;&amp;#9660;&lt;/Text&gt;&#13;&#10;                    &lt;/Box&gt;&#13;&#10;                    &lt;Box style={{ position: 'absolute', left: 196, top: 68, width: 12, height: 12, alignItems: 'center', justifyContent: 'center' }}&gt;&#13;&#10;                        &lt;Text style={{ fontSize: 10, color: '#C0392B' }}&gt;&amp;#9650;&lt;/Text&gt;&#13;&#10;                    &lt;/Box&gt;&#13;&#10;&#13;&#10;                    {/* ---- 分支标签 ---- */}&#13;&#10;                    &lt;Box style={{ position: 'absolute', left: 294, top: 86, width: 22, height: 14, alignItems: 'center', justifyContent: 'center' }}&gt;&#13;&#10;                        &lt;Text style={{ fontSize: 11, fontWeight: 'bold', color: '#8E2B22' }}&gt;否&lt;/Text&gt;&#13;&#10;                    &lt;/Box&gt;&#13;&#10;                    &lt;Box style={{ position: 'absolute', left: 476, top: 86, width: 22, height: 14, alignItems: 'center', justifyContent: 'center' }}&gt;&#13;&#10;                        &lt;Text style={{ fontSize: 11, fontWeight: 'bold', color: '#1A1A1A' }}&gt;是&lt;/Text&gt;&#13;&#10;                    &lt;/Box&gt;&#13;&#10;                    &lt;Box style={{ position: 'absolute', left: 66, top: 74, width: 130, height: 14 }}&gt;&#13;&#10;                        &lt;Text style={{ fontSize: 10, color: '#8E2B22' }}&gt;迭代后重新实测&lt;/Text&gt;&#13;&#10;                    &lt;/Box&gt;&#13;&#10;&#13;&#10;                    {/* ---- 节点 ---- */}&#13;&#10;                    &lt;Box style={{ position: 'absolute', left: 0, top: 16, width: 104, height: 52, background: '#FFFFFF', border: '1.2px solid #D9D9D9', borderRadius: 6, alignItems: 'center', justifyContent: 'center' }}&gt;&#13;&#10;                        &lt;Text style={{ fontSize: 12, color: '#1A1A1A' }}&gt;算子源码工程&lt;/Text&gt;&#13;&#10;                    &lt;/Box&gt;&#13;&#10;                    &lt;Box style={{ position: 'absolute', left: 124, top: 16, width: 156, height: 52, background: '#FFFFFF', border: '1.2px solid #D9D9D9', borderRadius: 6, alignItems: 'center', justifyContent: 'center', gap: 2 }}&gt;&#13;&#10;                        &lt;Text style={{ fontSize: 12, color: '#1A1A1A' }}&gt;Profiling 打点 Skill&lt;/Text&gt;&#13;&#10;                        &lt;Text style={{ fontSize: 11, color: '#6E6E6E' }}&gt;自动完成插桩&lt;/Text&gt;&#13;&#10;                    &lt;/Box&gt;&#13;&#10;                    &lt;Box style={{ position: 'absolute', left: 300, top: 16, width: 108, height: 52, background: '#FFFFFF', border: '1.2px solid #D9D9D9', borderRadius: 6, alignItems: 'center', justifyContent: 'center', gap: 2 }}&gt;&#13;&#10;                        &lt;Text style={{ fontSize: 12, color: '#1A1A1A' }}&gt;环境实测&lt;/Text&gt;&#13;&#10;                        &lt;Text style={{ fontSize: 11, color: '#6E6E6E' }}&gt;真机 NPU&lt;/Text&gt;&#13;&#10;                    &lt;/Box&gt;&#13;&#10;                    &lt;Box style={{ position: 'absolute', left: 428, top: 17, width: 90, height: 50, background: '#FBEEEB', border: '2px solid #C0392B', borderRadius: 4, alignItems: 'center', justifyContent: 'center' }}&gt;&#13;&#10;                        &lt;Text style={{ fontSize: 12, fontWeight: 'bold', color: '#C0392B' }}&gt;成功？&lt;/Text&gt;&#13;&#10;                    &lt;/Box&gt;&#13;&#10;                    &lt;Box style={{ position: 'absolute', left: 196, top: 104, width: 180, height: 48, background: '#FBEEEB', border: '1.4px solid #C0392B', borderRadius: 6, alignItems: 'center', justifyContent: 'center', gap: 2 }}&gt;&#13;&#10;                        &lt;Text style={{ fontSize: 12, fontWeight: 'bold', color: '#C0392B' }}&gt;Skill 优化&lt;/Text&gt;&#13;&#10;                        &lt;Text style={{ fontSize: 11, color: '#8E2B22' }}&gt;提升打点准确率后重跑&lt;/Text&gt;&#13;&#10;                    &lt;/Box&gt;&#13;&#10;                    &lt;Box style={{ position: 'absolute', left: 430, top: 104, width: 160, height: 48, background: '#FFFFFF', border: '1.4px solid #C0392B', borderRadius: 6, alignItems: 'center', justifyContent: 'center', gap: 2 }}&gt;&#13;&#10;                        &lt;Text style={{ fontSize: 12, fontWeight: 'bold', color: '#C0392B' }}&gt;输出每核每阶段 CSV&lt;/Text&gt;&#13;&#10;                        &lt;Text style={{ fontSize: 11, color: '#6E6E6E' }}&gt;与可视化流水图&lt;/Text&gt;&#13;&#10;                    &lt;/Box&gt;&#13;&#10;                &lt;/Box&gt;&#13;&#10;&#13;&#10;                &lt;Text style={{ fontSize: 10.5, color: '#8C8C8C', lineHeight: 1.4, marginTop: 2 }}&gt;&#13;&#10;                    闭环本身也是打点 Skill 的迭代通道：失败轮次反哺 Skill 优化，持续兼顾低侵入性与打点准确率。&#13;&#10;                &lt;/Text&gt;&#13;&#10;            &lt;/Box&gt;&#13;&#10;        &lt;/Box&gt;&#13;&#10;&#13;&#10;        {/* ---------- 右栏：03 实际效果 + 04 调优收益 ---------- */}&#13;&#10;        &lt;Box style={{ width: 552, flexDirection: 'column', gap: 14 }}&gt;&#13;&#10;&#13;&#10;            {/* 03 实际效果 */}&#13;&#10;            &lt;Box style={{ height: 305, background: '#FFFFFF', border: '1px solid #E6E6E6', borderRadius: 6, padding: '14px 16px' }}&gt;&#13;&#10;                &lt;Box style={{ flexDirection: 'row', alignItems: 'center' }}&gt;&#13;&#10;                    &lt;Box style={{ width: 24, height: 24, background: '#C0392B', borderRadius: 4, alignItems: 'center', justifyContent: 'center' }}&gt;&#13;&#10;                        &lt;Text style={{ fontSize: 12, fontWeight: 'bold', color: '#FFFFFF' }}&gt;03&lt;/Text&gt;&#13;&#10;                    &lt;/Box&gt;&#13;&#10;                    &lt;Text style={{ fontSize: 15, fontWeight: 'bold', color: '#1A1A1A', marginLeft: 10 }}&gt;实际效果&lt;/Text&gt;&#13;&#10;                    &lt;Text style={{ fontSize: 10.5, color: '#8C8C8C', marginLeft: 'auto' }}&gt;执行源码即产出流水图&lt;/Text&gt;&#13;&#10;                &lt;/Box&gt;&#13;&#10;&#13;&#10;                &lt;Text style={{ fontSize: 11.5, color: '#6E6E6E', lineHeight: 1.5, marginTop: 10 }}&gt;&#13;&#10;                    经 Skill 打点后的工程，执行一次即可给出各阶段真机时间开销的流水图示。&#13;&#10;                &lt;/Text&gt;&#13;&#10;&#13;&#10;                &lt;Box style={{ height: 100, background: '#FAFAFA', border: '1px dashed #C9C9C9', borderRadius: 4, marginTop: 10, alignItems: 'center', justifyContent: 'center' }}&gt;&#13;&#10;                    &lt;Box style={{ flexDirection: 'column', alignItems: 'center', gap: 4 }}&gt;&#13;&#10;                        &lt;Text style={{ fontSize: 12, fontWeight: 'bold', color: '#C0392B' }}&gt;GDN 算子真机流水图&lt;/Text&gt;&#13;&#10;                        &lt;Text style={{ fontSize: 10.5, color: '#8C8C8C' }}&gt;待插入：七阶段 AIV / AIC 时序图&lt;/Text&gt;&#13;&#10;                    &lt;/Box&gt;&#13;&#10;                &lt;/Box&gt;&#13;&#10;&#13;&#10;                &lt;Box style={{ height: 100, background: '#FAFAFA', border: '1px dashed #C9C9C9', borderRadius: 4, marginTop: 10, alignItems: 'center', justifyContent: 'center' }}&gt;&#13;&#10;                    &lt;Box style={{ flexDirection: 'column', alignItems: 'center', gap: 4 }}&gt;&#13;&#10;                        &lt;Text style={{ fontSize: 12, fontWeight: 'bold', color: '#C0392B' }}&gt;GMM 算子真机流水图&lt;/Text&gt;&#13;&#10;                        &lt;Text style={{ fontSize: 10.5, color: '#8C8C8C' }}&gt;待插入：分核 / 分阶段时序图&lt;/Text&gt;&#13;&#10;                    &lt;/Box&gt;&#13;&#10;                &lt;/Box&gt;&#13;&#10;            &lt;/Box&gt;&#13;&#10;&#13;&#10;            {/* 04 调优收益 */}&#13;&#10;            &lt;Box style={{ height: 256, background: '#FFFFFF', border: '1px solid #E6E6E6', borderRadius: 6, padding: '14px 16px' }}&gt;&#13;&#10;                &lt;Box style={{ flexDirection: 'row', alignItems: 'center' }}&gt;&#13;&#10;                    &lt;Box style={{ width: 24, height: 24, background: '#C0392B', borderRadius: 4, alignItems: 'center', justifyContent: 'center' }}&gt;&#13;&#10;                        &lt;Text style={{ fontSize: 12, fontWeight: 'bold', color: '#FFFFFF' }}&gt;04&lt;/Text&gt;&#13;&#10;                    &lt;/Box&gt;&#13;&#10;                    &lt;Text style={{ fontSize: 15, fontWeight: 'bold', color: '#1A1A1A', marginLeft: 10 }}&gt;调优收益&lt;/Text&gt;&#13;&#10;                    &lt;Text style={{ fontSize: 10.5, color: '#8C8C8C', marginLeft: 'auto' }}&gt;GDN 已量化 · GMM 待补充&lt;/Text&gt;&#13;&#10;                &lt;/Box&gt;&#13;&#10;&#13;&#10;                {/* GDN / GMM 两块等大收益区 */}&#13;&#10;                &lt;Box style={{ flexDirection: 'row', gap: 12, marginTop: 10 }}&gt;&#13;&#10;&#13;&#10;                    {/* GDN 已量化 */}&#13;&#10;                    &lt;Box style={{ flex: 1, height: 186, background: '#FFFFFF', border: '1px solid #E6E6E6', borderRadius: 5, padding: '10px 12px', justifyContent: 'space-between' }}&gt;&#13;&#10;                        &lt;Box style={{ flexDirection: 'row', alignItems: 'center', gap: 8 }}&gt;&#13;&#10;                            &lt;Box style={{ background: '#C0392B', borderRadius: 3, padding: '2px 6px' }}&gt;&#13;&#10;                                &lt;Text style={{ fontSize: 10.5, fontWeight: 'bold', color: '#FFFFFF' }}&gt;GDN&lt;/Text&gt;&#13;&#10;                            &lt;/Box&gt;&#13;&#10;                            &lt;Text style={{ fontSize: 10, color: '#8C8C8C' }}&gt;A / B 各 3 轮合并统计&lt;/Text&gt;&#13;&#10;                        &lt;/Box&gt;&#13;&#10;&#13;&#10;                        &lt;Box style={{ flex: 1, alignItems: 'center', justifyContent: 'center', gap: 2 }}&gt;&#13;&#10;                            &lt;Text style={{ fontSize: 30, fontWeight: 'bold', color: '#C0392B', lineHeight: 1.1 }}&gt;-5.42%&lt;/Text&gt;&#13;&#10;                            &lt;Text style={{ fontSize: 11.5, fontWeight: 'bold', color: '#1A1A1A', lineHeight: 1.3, marginTop: 4 }}&gt;1704.80 → 1612.33 μs&lt;/Text&gt;&#13;&#10;                            &lt;Text style={{ fontSize: 10, color: '#6E6E6E', lineHeight: 1.3 }}&gt;七阶段合计均值&lt;/Text&gt;&#13;&#10;                        &lt;/Box&gt;&#13;&#10;&#13;&#10;                        &lt;Box style={{ flexDirection: 'row', gap: 8 }}&gt;&#13;&#10;                            &lt;Box style={{ flex: 1, background: '#FBEEEB', borderRadius: 4, padding: '6px 6px', alignItems: 'center' }}&gt;&#13;&#10;                                &lt;Text style={{ fontSize: 13, fontWeight: 'bold', color: '#C0392B', lineHeight: 1.2 }}&gt;-13.19%&lt;/Text&gt;&#13;&#10;                                &lt;Text style={{ fontSize: 9.5, color: '#8E2B22', lineHeight: 1.3, marginTop: 1 }}&gt;Prepare 均值&lt;/Text&gt;&#13;&#10;                            &lt;/Box&gt;&#13;&#10;                            &lt;Box style={{ flex: 1, background: '#FBEEEB', borderRadius: 4, padding: '6px 6px', alignItems: 'center' }}&gt;&#13;&#10;                                &lt;Text style={{ fontSize: 13, fontWeight: 'bold', color: '#C0392B', lineHeight: 1.2 }}&gt;-5.50%&lt;/Text&gt;&#13;&#10;                                &lt;Text style={{ fontSize: 9.5, color: '#8E2B22', lineHeight: 1.3, marginTop: 1 }}&gt;合计中位数&lt;/Text&gt;&#13;&#10;                            &lt;/Box&gt;&#13;&#10;                        &lt;/Box&gt;&#13;&#10;                    &lt;/Box&gt;&#13;&#10;&#13;&#10;                    {/* GMM 待补充（与 GDN 等大） */}&#13;&#10;                    &lt;Box style={{ flex: 1, height: 186, background: '#FFFFFF', border: '1px dashed #C9C9C9', borderRadius: 5, padding: '10px 12px', justifyContent: 'space-between' }}&gt;&#13;&#10;                        &lt;Box style={{ flexDirection: 'row', alignItems: 'center', gap: 8 }}&gt;&#13;&#10;                            &lt;Box style={{ background: '#FFFFFF', border: '1px solid #C9C9C9', borderRadius: 3, padding: '1px 6px' }}&gt;&#13;&#10;                                &lt;Text style={{ fontSize: 10.5, fontWeight: 'bold', color: '#8C8C8C' }}&gt;GMM&lt;/Text&gt;&#13;&#10;                            &lt;/Box&gt;&#13;&#10;                            &lt;Text style={{ fontSize: 10, color: '#8C8C8C' }}&gt;收益数据待补充&lt;/Text&gt;&#13;&#10;                        &lt;/Box&gt;&#13;&#10;&#13;&#10;                        &lt;Box style={{ flex: 1, alignItems: 'center', justifyContent: 'center', gap: 2 }}&gt;&#13;&#10;                            &lt;Text style={{ fontSize: 30, fontWeight: 'bold', color: '#C9C9C9', lineHeight: 1.1 }}&gt;—.—%&lt;/Text&gt;&#13;&#10;                            &lt;Text style={{ fontSize: 11.5, fontWeight: 'bold', color: '#8C8C8C', lineHeight: 1.3, marginTop: 4 }}&gt;____ → ____ μs&lt;/Text&gt;&#13;&#10;                            &lt;Text style={{ fontSize: 10, color: '#8C8C8C', lineHeight: 1.3 }}&gt;合计均值（待填）&lt;/Text&gt;&#13;&#10;                        &lt;/Box&gt;&#13;&#10;&#13;&#10;                        &lt;Box style={{ flexDirection: 'row', gap: 8 }}&gt;&#13;&#10;                            &lt;Box style={{ flex: 1, background: '#FAFAFA', borderRadius: 4, padding: '6px 6px', alignItems: 'center' }}&gt;&#13;&#10;                                &lt;Text style={{ fontSize: 13, fontWeight: 'bold', color: '#B0B0B0', lineHeight: 1.2 }}&gt;—.—%&lt;/Text&gt;&#13;&#10;                                &lt;Text style={{ fontSize: 9.5, color: '#8C8C8C', lineHeight: 1.3, marginTop: 1 }}&gt;优化点：____&lt;/Text&gt;&#13;&#10;                            &lt;/Box&gt;&#13;&#10;                            &lt;Box style={{ flex: 1, background: '#FAFAFA', borderRadius: 4, padding: '6px 6px', alignItems: 'center' }}&gt;&#13;&#10;                                &lt;Text style={{ fontSize: 13, fontWeight: 'bold', color: '#B0B0B0', lineHeight: 1.2 }}&gt;—.—%&lt;/Text&gt;&#13;&#10;                                &lt;Text style={{ fontSize: 9.5, color: '#8C8C8C', lineHeight: 1.3, marginTop: 1 }}&gt;中位数降幅&lt;/Text&gt;&#13;&#10;                            &lt;/Box&gt;&#13;&#10;                        &lt;/Box&gt;&#13;&#10;                    &lt;/Box&gt;&#13;&#10;                &lt;/Box&gt;&#13;&#10;            &lt;/Box&gt;&#13;&#10;        &lt;/Box&gt;&#13;&#10;    &lt;/Box&gt;&#13;&#10;&#13;&#10;    {/* ================= C 区 · 页脚条（20px） ================= */}&#13;&#10;    &lt;Box style={{ flexDirection: 'row', alignItems: 'center', marginTop: 'auto' }}&gt;&#13;&#10;        &lt;Text style={{ fontSize: 10.5, color: '#8C8C8C', lineHeight: 1.4 }}&gt;Profiling 打点 Skill 闭环 · 算子源码级性能分析创新案例&lt;/Text&gt;&#13;&#10;        &lt;Text style={{ fontSize: 10.5, color: '#8C8C8C', lineHeight: 1.4, marginLeft: 'auto' }}&gt;01 / 0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381000" y="266700"/>
            <a:ext cx="47625" cy="24765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42925" y="209550"/>
            <a:ext cx="6562725" cy="3714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025" b="1">
                <a:solidFill>
                  <a:srgbClr val="C0392B"/>
                </a:solidFill>
                <a:latin typeface="SimHei"/>
                <a:ea typeface="SimHei"/>
              </a:rPr>
              <a:t xml:space="preserve">Profiling </a:t>
            </a:r>
            <a:r>
              <a:rPr lang="zh-CN" sz="2025" b="1">
                <a:solidFill>
                  <a:srgbClr val="C0392B"/>
                </a:solidFill>
                <a:latin typeface="SimHei"/>
                <a:ea typeface="SimHei"/>
              </a:rPr>
              <a:t>打点工具及其在</a:t>
            </a:r>
            <a:r>
              <a:rPr lang="en-US" sz="2025" b="1">
                <a:solidFill>
                  <a:srgbClr val="C0392B"/>
                </a:solidFill>
                <a:latin typeface="SimHei"/>
                <a:ea typeface="SimHei"/>
              </a:rPr>
              <a:t xml:space="preserve"> GDN / GMM </a:t>
            </a:r>
            <a:r>
              <a:rPr lang="zh-CN" sz="2025" b="1">
                <a:solidFill>
                  <a:srgbClr val="C0392B"/>
                </a:solidFill>
                <a:latin typeface="SimHei"/>
                <a:ea typeface="SimHei"/>
              </a:rPr>
              <a:t>算子优化中的应用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42925" y="619125"/>
            <a:ext cx="11268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6E6E6E"/>
                </a:solidFill>
                <a:latin typeface="Microsoft YaHei"/>
                <a:ea typeface="Microsoft YaHei"/>
              </a:rPr>
              <a:t>可移植的算子源码级打点，取回真机细粒度时序；</a:t>
            </a:r>
            <a:r>
              <a:rPr lang="en-US" sz="938">
                <a:solidFill>
                  <a:srgbClr val="6E6E6E"/>
                </a:solidFill>
                <a:latin typeface="Microsoft YaHei"/>
                <a:ea typeface="Microsoft YaHei"/>
              </a:rPr>
              <a:t xml:space="preserve">Profiling </a:t>
            </a:r>
            <a:r>
              <a:rPr lang="zh-CN" sz="938">
                <a:solidFill>
                  <a:srgbClr val="6E6E6E"/>
                </a:solidFill>
                <a:latin typeface="Microsoft YaHei"/>
                <a:ea typeface="Microsoft YaHei"/>
              </a:rPr>
              <a:t>打点</a:t>
            </a:r>
            <a:r>
              <a:rPr lang="en-US" sz="938">
                <a:solidFill>
                  <a:srgbClr val="6E6E6E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938">
                <a:solidFill>
                  <a:srgbClr val="6E6E6E"/>
                </a:solidFill>
                <a:latin typeface="Microsoft YaHei"/>
                <a:ea typeface="Microsoft YaHei"/>
              </a:rPr>
              <a:t>与上板实测形成闭环并持续迭代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381000" y="866775"/>
            <a:ext cx="11430000" cy="9525"/>
          </a:xfrm>
          <a:prstGeom prst="rect">
            <a:avLst/>
          </a:prstGeom>
          <a:solidFill>
            <a:srgbClr val="E3E3E3"/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381000" y="952500"/>
            <a:ext cx="5981700" cy="245745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533400" y="108585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81025" y="11334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57250" y="11144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背景与痛点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010150" y="1143000"/>
            <a:ext cx="12001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为什么必须自研源码级打点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33400" y="1428750"/>
            <a:ext cx="2781300" cy="148590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638175" y="1504950"/>
            <a:ext cx="2571750" cy="62865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23900" y="156210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E6E6E"/>
                </a:solidFill>
                <a:latin typeface="Microsoft YaHei"/>
                <a:ea typeface="Microsoft YaHei"/>
              </a:rPr>
              <a:t>组件级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1219200" y="1562100"/>
            <a:ext cx="1752600" cy="114300"/>
          </a:xfrm>
          <a:prstGeom prst="roundRect">
            <a:avLst>
              <a:gd name="adj" fmla="val 16667"/>
            </a:avLst>
          </a:prstGeom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1219200" y="1562100"/>
            <a:ext cx="723900" cy="1143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1943100" y="1562100"/>
            <a:ext cx="438150" cy="1143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2381250" y="1562100"/>
            <a:ext cx="571500" cy="1143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028950" y="15621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 b="1">
                <a:solidFill>
                  <a:srgbClr val="4E9E70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23900" y="173355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E6E6E"/>
                </a:solidFill>
                <a:latin typeface="Microsoft YaHei"/>
                <a:ea typeface="Microsoft YaHei"/>
              </a:rPr>
              <a:t xml:space="preserve">Kernel </a:t>
            </a:r>
            <a:r>
              <a:rPr lang="zh-CN" sz="713">
                <a:solidFill>
                  <a:srgbClr val="6E6E6E"/>
                </a:solidFill>
                <a:latin typeface="Microsoft YaHei"/>
                <a:ea typeface="Microsoft YaHei"/>
              </a:rPr>
              <a:t>内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219200" y="1733550"/>
            <a:ext cx="323850" cy="114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1581150" y="1733550"/>
            <a:ext cx="314325" cy="114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1933575" y="1733550"/>
            <a:ext cx="323850" cy="114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2295525" y="1733550"/>
            <a:ext cx="314325" cy="114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2647950" y="1733550"/>
            <a:ext cx="323850" cy="114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028950" y="17335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 b="1">
                <a:solidFill>
                  <a:srgbClr val="C0392B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23900" y="1905000"/>
            <a:ext cx="24003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8C8C8C"/>
                </a:solidFill>
                <a:latin typeface="Microsoft YaHei"/>
                <a:ea typeface="Microsoft YaHei"/>
              </a:rPr>
              <a:t>只有总耗时与占比，各阶段耗时无数据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38175" y="2200275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1A1A1A"/>
                </a:solidFill>
                <a:latin typeface="Microsoft YaHei"/>
                <a:ea typeface="Microsoft YaHei"/>
              </a:rPr>
              <a:t>只有组件耗时，撑不起算子调优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38175" y="2428875"/>
            <a:ext cx="257175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25">
                <a:solidFill>
                  <a:srgbClr val="6E6E6E"/>
                </a:solidFill>
                <a:latin typeface="Microsoft YaHei"/>
                <a:ea typeface="Microsoft YaHei"/>
              </a:rPr>
              <a:t xml:space="preserve">msprof </a:t>
            </a:r>
            <a:r>
              <a:rPr lang="zh-CN" sz="825">
                <a:solidFill>
                  <a:srgbClr val="6E6E6E"/>
                </a:solidFill>
                <a:latin typeface="Microsoft YaHei"/>
                <a:ea typeface="Microsoft YaHei"/>
              </a:rPr>
              <a:t>只能给出各组件总耗时与占比，拿不到</a:t>
            </a:r>
            <a:r>
              <a:rPr lang="en-US" sz="825">
                <a:solidFill>
                  <a:srgbClr val="6E6E6E"/>
                </a:solidFill>
                <a:latin typeface="Microsoft YaHei"/>
                <a:ea typeface="Microsoft YaHei"/>
              </a:rPr>
              <a:t xml:space="preserve"> Kernel </a:t>
            </a:r>
            <a:r>
              <a:rPr lang="zh-CN" sz="825">
                <a:solidFill>
                  <a:srgbClr val="6E6E6E"/>
                </a:solidFill>
                <a:latin typeface="Microsoft YaHei"/>
                <a:ea typeface="Microsoft YaHei"/>
              </a:rPr>
              <a:t>内各阶段耗时数据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3429000" y="1428750"/>
            <a:ext cx="2781300" cy="148590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3533775" y="1504950"/>
            <a:ext cx="2571750" cy="62865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619500" y="156210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E6E6E"/>
                </a:solidFill>
                <a:latin typeface="Microsoft YaHei"/>
                <a:ea typeface="Microsoft YaHei"/>
              </a:rPr>
              <a:t>仿真器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114800" y="1562100"/>
            <a:ext cx="1752600" cy="114300"/>
          </a:xfrm>
          <a:prstGeom prst="roundRect">
            <a:avLst>
              <a:gd name="adj" fmla="val 16667"/>
            </a:avLst>
          </a:prstGeom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4114800" y="1562100"/>
            <a:ext cx="590550" cy="1143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4705350" y="1562100"/>
            <a:ext cx="361950" cy="114300"/>
          </a:xfrm>
          <a:prstGeom prst="rect">
            <a:avLst/>
          </a:prstGeom>
          <a:solidFill>
            <a:srgbClr val="B9B9B9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5067300" y="1562100"/>
            <a:ext cx="781050" cy="1143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924550" y="15621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 b="1">
                <a:solidFill>
                  <a:srgbClr val="4E9E70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619500" y="1733550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E6E6E"/>
                </a:solidFill>
                <a:latin typeface="Microsoft YaHei"/>
                <a:ea typeface="Microsoft YaHei"/>
              </a:rPr>
              <a:t>上板实测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114800" y="1733550"/>
            <a:ext cx="1752600" cy="114300"/>
          </a:xfrm>
          <a:prstGeom prst="roundRect">
            <a:avLst>
              <a:gd name="adj" fmla="val 16667"/>
            </a:avLst>
          </a:prstGeom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4114800" y="1733550"/>
            <a:ext cx="685800" cy="114300"/>
          </a:xfrm>
          <a:prstGeom prst="rect">
            <a:avLst/>
          </a:prstGeom>
          <a:solidFill>
            <a:srgbClr val="F0D9D4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4800600" y="1733550"/>
            <a:ext cx="304800" cy="114300"/>
          </a:xfrm>
          <a:prstGeom prst="rect">
            <a:avLst/>
          </a:prstGeom>
          <a:solidFill>
            <a:srgbClr val="F0D9D4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5105400" y="1733550"/>
            <a:ext cx="742950" cy="114300"/>
          </a:xfrm>
          <a:prstGeom prst="rect">
            <a:avLst/>
          </a:prstGeom>
          <a:solidFill>
            <a:srgbClr val="F0D9D4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924550" y="17335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 b="1">
                <a:solidFill>
                  <a:srgbClr val="C0392B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619500" y="1905000"/>
            <a:ext cx="24003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8C8C8C"/>
                </a:solidFill>
                <a:latin typeface="Microsoft YaHei"/>
                <a:ea typeface="Microsoft YaHei"/>
              </a:rPr>
              <a:t>流水图取自仿真数据，非真机实测结果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533775" y="2200275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1A1A1A"/>
                </a:solidFill>
                <a:latin typeface="Microsoft YaHei"/>
                <a:ea typeface="Microsoft YaHei"/>
              </a:rPr>
              <a:t>流水图来自仿真，不等于真机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533775" y="2428875"/>
            <a:ext cx="257175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6E6E6E"/>
                </a:solidFill>
                <a:latin typeface="Microsoft YaHei"/>
                <a:ea typeface="Microsoft YaHei"/>
              </a:rPr>
              <a:t>现有流水图基于仿真器性能仿真数据，并非实际上板测试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33400" y="2971800"/>
            <a:ext cx="5676900" cy="314325"/>
          </a:xfrm>
          <a:prstGeom prst="roundRect">
            <a:avLst>
              <a:gd name="adj" fmla="val 12121"/>
            </a:avLst>
          </a:prstGeom>
          <a:solidFill>
            <a:srgbClr val="FBEEEB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47700" y="3028950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8E2B22"/>
                </a:solidFill>
                <a:latin typeface="Microsoft YaHei"/>
                <a:ea typeface="Microsoft YaHei"/>
              </a:rPr>
              <a:t>因此需要</a:t>
            </a:r>
            <a:r>
              <a:rPr lang="zh-CN" sz="863" b="1">
                <a:solidFill>
                  <a:srgbClr val="C0392B"/>
                </a:solidFill>
                <a:latin typeface="Microsoft YaHei"/>
                <a:ea typeface="Microsoft YaHei"/>
              </a:rPr>
              <a:t>可移植的算子源码级</a:t>
            </a:r>
            <a:r>
              <a:rPr lang="en-US" sz="863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 Profiling </a:t>
            </a:r>
            <a:r>
              <a:rPr lang="zh-CN" sz="863" b="1">
                <a:solidFill>
                  <a:srgbClr val="C0392B"/>
                </a:solidFill>
                <a:latin typeface="Microsoft YaHei"/>
                <a:ea typeface="Microsoft YaHei"/>
              </a:rPr>
              <a:t>打点工具</a:t>
            </a:r>
            <a:r>
              <a:rPr lang="zh-CN" sz="863">
                <a:solidFill>
                  <a:srgbClr val="8E2B22"/>
                </a:solidFill>
                <a:latin typeface="Microsoft YaHei"/>
                <a:ea typeface="Microsoft YaHei"/>
              </a:rPr>
              <a:t>，获取细粒度、差异化的实测数据用于流水图分析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81000" y="3543300"/>
            <a:ext cx="5981700" cy="288607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533400" y="367665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81025" y="37242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57250" y="3705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方案设计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257800" y="3733800"/>
            <a:ext cx="952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打点</a:t>
            </a: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与实测闭环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33400" y="4000500"/>
            <a:ext cx="56769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给原始算子工程接入</a:t>
            </a:r>
            <a:r>
              <a:rPr lang="zh-CN" sz="900" b="1">
                <a:solidFill>
                  <a:srgbClr val="C0392B"/>
                </a:solidFill>
                <a:latin typeface="Microsoft YaHei"/>
                <a:ea typeface="Microsoft YaHei"/>
              </a:rPr>
              <a:t>内核计时能力</a:t>
            </a: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，生成</a:t>
            </a:r>
            <a:r>
              <a:rPr lang="zh-CN" sz="900" b="1">
                <a:solidFill>
                  <a:srgbClr val="C0392B"/>
                </a:solidFill>
                <a:latin typeface="Microsoft YaHei"/>
                <a:ea typeface="Microsoft YaHei"/>
              </a:rPr>
              <a:t>每核每阶段</a:t>
            </a:r>
            <a:r>
              <a:rPr lang="en-US" sz="90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 CSV</a:t>
            </a:r>
            <a:r>
              <a:rPr lang="en-US" sz="900">
                <a:solidFill>
                  <a:srgbClr val="1A1A1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与可视化数据，用于定位</a:t>
            </a:r>
            <a:r>
              <a:rPr lang="en-US" sz="900">
                <a:solidFill>
                  <a:srgbClr val="1A1A1A"/>
                </a:solidFill>
                <a:latin typeface="Microsoft YaHei"/>
                <a:ea typeface="Microsoft YaHei"/>
              </a:rPr>
              <a:t xml:space="preserve"> Kernel </a:t>
            </a: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内各阶段耗时、</a:t>
            </a:r>
            <a:r>
              <a:rPr lang="en-US" sz="900">
                <a:solidFill>
                  <a:srgbClr val="1A1A1A"/>
                </a:solidFill>
                <a:latin typeface="Microsoft YaHei"/>
                <a:ea typeface="Microsoft YaHei"/>
              </a:rPr>
              <a:t xml:space="preserve">AIV / AIC </a:t>
            </a: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核间负载均衡与等待空隙。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553200" y="952500"/>
            <a:ext cx="5257800" cy="2905125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705600" y="108585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753225" y="11334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029450" y="11144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实际效果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658475" y="1143000"/>
            <a:ext cx="100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执行源码即产出流水图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705600" y="140970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6E6E6E"/>
                </a:solidFill>
                <a:latin typeface="Microsoft YaHei"/>
                <a:ea typeface="Microsoft YaHei"/>
              </a:rPr>
              <a:t>经</a:t>
            </a:r>
            <a:r>
              <a:rPr lang="en-US" sz="863">
                <a:solidFill>
                  <a:srgbClr val="6E6E6E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863">
                <a:solidFill>
                  <a:srgbClr val="6E6E6E"/>
                </a:solidFill>
                <a:latin typeface="Microsoft YaHei"/>
                <a:ea typeface="Microsoft YaHei"/>
              </a:rPr>
              <a:t>打点后的工程，执行一次即可给出各阶段真机时间开销的流水图示。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705600" y="1704975"/>
            <a:ext cx="4953000" cy="9525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C9C9C9"/>
            </a:solidFill>
            <a:prstDash val="dash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629650" y="2028825"/>
            <a:ext cx="1114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GDN </a:t>
            </a:r>
            <a:r>
              <a:rPr lang="zh-CN" sz="900" b="1">
                <a:solidFill>
                  <a:srgbClr val="C0392B"/>
                </a:solidFill>
                <a:latin typeface="Microsoft YaHei"/>
                <a:ea typeface="Microsoft YaHei"/>
              </a:rPr>
              <a:t>算子真机流水图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439150" y="2209800"/>
            <a:ext cx="1495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待插入：七阶段</a:t>
            </a: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 xml:space="preserve"> AIV / AIC </a:t>
            </a: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时序图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705600" y="2752725"/>
            <a:ext cx="4953000" cy="9525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C9C9C9"/>
            </a:solidFill>
            <a:prstDash val="dash"/>
          </a:ln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610600" y="3076575"/>
            <a:ext cx="1162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GMM </a:t>
            </a:r>
            <a:r>
              <a:rPr lang="zh-CN" sz="900" b="1">
                <a:solidFill>
                  <a:srgbClr val="C0392B"/>
                </a:solidFill>
                <a:latin typeface="Microsoft YaHei"/>
                <a:ea typeface="Microsoft YaHei"/>
              </a:rPr>
              <a:t>算子真机流水图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534400" y="3257550"/>
            <a:ext cx="13049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待插入：分核</a:t>
            </a: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分阶段时序图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553200" y="3990975"/>
            <a:ext cx="5257800" cy="24384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6705600" y="412432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753225" y="41719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029450" y="4152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调优收益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410825" y="4181475"/>
            <a:ext cx="1247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 xml:space="preserve">GDN </a:t>
            </a: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已量化</a:t>
            </a: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 xml:space="preserve"> · GMM </a:t>
            </a: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待补充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705600" y="4448175"/>
            <a:ext cx="2419350" cy="177165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6819900" y="4543425"/>
            <a:ext cx="361950" cy="161925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77050" y="4562475"/>
            <a:ext cx="247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Microsoft YaHei"/>
                <a:ea typeface="Microsoft YaHei"/>
              </a:rPr>
              <a:t>GDN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58050" y="4572000"/>
            <a:ext cx="942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C8C8C"/>
                </a:solidFill>
                <a:latin typeface="Microsoft YaHei"/>
                <a:ea typeface="Microsoft YaHei"/>
              </a:rPr>
              <a:t xml:space="preserve">A / B </a:t>
            </a:r>
            <a:r>
              <a:rPr lang="zh-CN" sz="750">
                <a:solidFill>
                  <a:srgbClr val="8C8C8C"/>
                </a:solidFill>
                <a:latin typeface="Microsoft YaHei"/>
                <a:ea typeface="Microsoft YaHei"/>
              </a:rPr>
              <a:t>各</a:t>
            </a:r>
            <a:r>
              <a:rPr lang="en-US" sz="750">
                <a:solidFill>
                  <a:srgbClr val="8C8C8C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750">
                <a:solidFill>
                  <a:srgbClr val="8C8C8C"/>
                </a:solidFill>
                <a:latin typeface="Microsoft YaHei"/>
                <a:ea typeface="Microsoft YaHei"/>
              </a:rPr>
              <a:t>轮合并统计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410450" y="4800600"/>
            <a:ext cx="1009650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C0392B"/>
                </a:solidFill>
                <a:latin typeface="Microsoft YaHei"/>
                <a:ea typeface="Microsoft YaHei"/>
              </a:rPr>
              <a:t>-5.42%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315200" y="5238750"/>
            <a:ext cx="12096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63" b="1">
                <a:solidFill>
                  <a:srgbClr val="1A1A1A"/>
                </a:solidFill>
                <a:latin typeface="Microsoft YaHei"/>
                <a:ea typeface="Microsoft YaHei"/>
              </a:rPr>
              <a:t>1704.80 → 1612.33 μs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581900" y="5429250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6E6E6E"/>
                </a:solidFill>
                <a:latin typeface="Microsoft YaHei"/>
                <a:ea typeface="Microsoft YaHei"/>
              </a:rPr>
              <a:t>七阶段合计均值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819900" y="5676900"/>
            <a:ext cx="1057275" cy="447675"/>
          </a:xfrm>
          <a:prstGeom prst="roundRect">
            <a:avLst>
              <a:gd name="adj" fmla="val 8511"/>
            </a:avLst>
          </a:prstGeom>
          <a:solidFill>
            <a:srgbClr val="FBEEE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096125" y="5734050"/>
            <a:ext cx="514350" cy="180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75" b="1">
                <a:solidFill>
                  <a:srgbClr val="C0392B"/>
                </a:solidFill>
                <a:latin typeface="Microsoft YaHei"/>
                <a:ea typeface="Microsoft YaHei"/>
              </a:rPr>
              <a:t>-13.19%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077075" y="5924550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13">
                <a:solidFill>
                  <a:srgbClr val="8E2B22"/>
                </a:solidFill>
                <a:latin typeface="Microsoft YaHei"/>
                <a:ea typeface="Microsoft YaHei"/>
              </a:rPr>
              <a:t xml:space="preserve">Prepare </a:t>
            </a:r>
            <a:r>
              <a:rPr lang="zh-CN" sz="713">
                <a:solidFill>
                  <a:srgbClr val="8E2B22"/>
                </a:solidFill>
                <a:latin typeface="Microsoft YaHei"/>
                <a:ea typeface="Microsoft YaHei"/>
              </a:rPr>
              <a:t>均值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7953375" y="5676900"/>
            <a:ext cx="1057275" cy="447675"/>
          </a:xfrm>
          <a:prstGeom prst="roundRect">
            <a:avLst>
              <a:gd name="adj" fmla="val 8511"/>
            </a:avLst>
          </a:prstGeom>
          <a:solidFill>
            <a:srgbClr val="FBEEEB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267700" y="5734050"/>
            <a:ext cx="438150" cy="180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75" b="1">
                <a:solidFill>
                  <a:srgbClr val="C0392B"/>
                </a:solidFill>
                <a:latin typeface="Microsoft YaHei"/>
                <a:ea typeface="Microsoft YaHei"/>
              </a:rPr>
              <a:t>-5.50%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258175" y="59245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13">
                <a:solidFill>
                  <a:srgbClr val="8E2B22"/>
                </a:solidFill>
                <a:latin typeface="Microsoft YaHei"/>
                <a:ea typeface="Microsoft YaHei"/>
              </a:rPr>
              <a:t>合计中位数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9239250" y="4448175"/>
            <a:ext cx="2419350" cy="177165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9353550" y="4543425"/>
            <a:ext cx="400050" cy="14287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410700" y="4552950"/>
            <a:ext cx="285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8C8C8C"/>
                </a:solidFill>
                <a:latin typeface="Microsoft YaHei"/>
                <a:ea typeface="Microsoft YaHei"/>
              </a:rPr>
              <a:t>GMM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829800" y="4562475"/>
            <a:ext cx="66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C8C8C"/>
                </a:solidFill>
                <a:latin typeface="Microsoft YaHei"/>
                <a:ea typeface="Microsoft YaHei"/>
              </a:rPr>
              <a:t>收益数据待补充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963150" y="4791075"/>
            <a:ext cx="971550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C9C9C9"/>
                </a:solidFill>
                <a:latin typeface="Microsoft YaHei"/>
                <a:ea typeface="Microsoft YaHei"/>
              </a:rPr>
              <a:t>—.—%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086975" y="5229225"/>
            <a:ext cx="7334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63" b="1">
                <a:solidFill>
                  <a:srgbClr val="8C8C8C"/>
                </a:solidFill>
                <a:latin typeface="Microsoft YaHei"/>
                <a:ea typeface="Microsoft YaHei"/>
              </a:rPr>
              <a:t>____ → ____ μs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067925" y="541972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8C8C8C"/>
                </a:solidFill>
                <a:latin typeface="Microsoft YaHei"/>
                <a:ea typeface="Microsoft YaHei"/>
              </a:rPr>
              <a:t>合计均值（待填）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9353550" y="5676900"/>
            <a:ext cx="1057275" cy="447675"/>
          </a:xfrm>
          <a:prstGeom prst="roundRect">
            <a:avLst>
              <a:gd name="adj" fmla="val 8511"/>
            </a:avLst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677400" y="5734050"/>
            <a:ext cx="419100" cy="180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75" b="1">
                <a:solidFill>
                  <a:srgbClr val="B0B0B0"/>
                </a:solidFill>
                <a:latin typeface="Microsoft YaHei"/>
                <a:ea typeface="Microsoft YaHei"/>
              </a:rPr>
              <a:t>—.—%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620250" y="5924550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13">
                <a:solidFill>
                  <a:srgbClr val="8C8C8C"/>
                </a:solidFill>
                <a:latin typeface="Microsoft YaHei"/>
                <a:ea typeface="Microsoft YaHei"/>
              </a:rPr>
              <a:t>优化点：</a:t>
            </a:r>
            <a:r>
              <a:rPr lang="en-US" sz="713">
                <a:solidFill>
                  <a:srgbClr val="8C8C8C"/>
                </a:solidFill>
                <a:latin typeface="Microsoft YaHei"/>
                <a:ea typeface="Microsoft YaHei"/>
              </a:rPr>
              <a:t>____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10487025" y="5676900"/>
            <a:ext cx="1057275" cy="447675"/>
          </a:xfrm>
          <a:prstGeom prst="roundRect">
            <a:avLst>
              <a:gd name="adj" fmla="val 8511"/>
            </a:avLst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810875" y="5734050"/>
            <a:ext cx="419100" cy="180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75" b="1">
                <a:solidFill>
                  <a:srgbClr val="B0B0B0"/>
                </a:solidFill>
                <a:latin typeface="Microsoft YaHei"/>
                <a:ea typeface="Microsoft YaHei"/>
              </a:rPr>
              <a:t>—.—%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791825" y="59245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13">
                <a:solidFill>
                  <a:srgbClr val="8C8C8C"/>
                </a:solidFill>
                <a:latin typeface="Microsoft YaHei"/>
                <a:ea typeface="Microsoft YaHei"/>
              </a:rPr>
              <a:t>中位数降幅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4669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 xml:space="preserve">Profiling </a:t>
            </a: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打点</a:t>
            </a: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闭环</a:t>
            </a: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8C8C8C"/>
                </a:solidFill>
                <a:latin typeface="Microsoft YaHei"/>
                <a:ea typeface="Microsoft YaHei"/>
              </a:rPr>
              <a:t>算子源码级性能分析创新案例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468100" y="649605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8C8C8C"/>
                </a:solidFill>
                <a:latin typeface="Microsoft YaHei"/>
                <a:ea typeface="Microsoft YaHei"/>
              </a:rPr>
              <a:t>01 / 01</a:t>
            </a:r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533400" y="4610100"/>
            <a:ext cx="1066800" cy="45720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算子源码工程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771650" y="4610100"/>
            <a:ext cx="1543050" cy="45720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Profiling 打点 Skill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自动完成插桩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486150" y="4610100"/>
            <a:ext cx="1066800" cy="45720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环境实测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真机 NPU</a:t>
            </a:r>
          </a:p>
        </p:txBody>
      </p:sp>
      <p:sp>
        <p:nvSpPr>
          <p:cNvPr id="104" name="Diamond 103"/>
          <p:cNvSpPr/>
          <p:nvPr/>
        </p:nvSpPr>
        <p:spPr>
          <a:xfrm>
            <a:off x="4724400" y="4533900"/>
            <a:ext cx="914400" cy="609600"/>
          </a:xfrm>
          <a:prstGeom prst="diamond">
            <a:avLst/>
          </a:prstGeom>
          <a:solidFill>
            <a:srgbClr val="FBEEE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成功？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724150" y="5353050"/>
            <a:ext cx="1657350" cy="438150"/>
          </a:xfrm>
          <a:prstGeom prst="roundRect">
            <a:avLst>
              <a:gd name="adj" fmla="val 9000"/>
            </a:avLst>
          </a:prstGeom>
          <a:solidFill>
            <a:srgbClr val="FBEEE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Skill 优化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8E2B22"/>
                </a:solidFill>
                <a:latin typeface="Microsoft YaHei"/>
                <a:ea typeface="Microsoft YaHei"/>
                <a:cs typeface="Microsoft YaHei"/>
              </a:rPr>
              <a:t>提升打点准确率后重跑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610100" y="5353050"/>
            <a:ext cx="1466850" cy="438150"/>
          </a:xfrm>
          <a:prstGeom prst="roundRect">
            <a:avLst>
              <a:gd name="adj" fmla="val 9000"/>
            </a:avLst>
          </a:prstGeom>
          <a:noFill/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输出每核每阶段 CSV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与可视化流水图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600200" y="4838700"/>
            <a:ext cx="171450" cy="0"/>
          </a:xfrm>
          <a:prstGeom prst="line">
            <a:avLst/>
          </a:prstGeom>
          <a:ln w="15875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314700" y="4838700"/>
            <a:ext cx="171450" cy="0"/>
          </a:xfrm>
          <a:prstGeom prst="line">
            <a:avLst/>
          </a:prstGeom>
          <a:ln w="15875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4552950" y="4838700"/>
            <a:ext cx="171450" cy="0"/>
          </a:xfrm>
          <a:prstGeom prst="line">
            <a:avLst/>
          </a:prstGeom>
          <a:ln w="15875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181600" y="5143500"/>
            <a:ext cx="0" cy="133350"/>
          </a:xfrm>
          <a:prstGeom prst="line">
            <a:avLst/>
          </a:prstGeom>
          <a:ln w="1587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552825" y="5276850"/>
            <a:ext cx="1790700" cy="0"/>
          </a:xfrm>
          <a:prstGeom prst="line">
            <a:avLst/>
          </a:prstGeom>
          <a:ln w="1587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552825" y="5276850"/>
            <a:ext cx="0" cy="76200"/>
          </a:xfrm>
          <a:prstGeom prst="line">
            <a:avLst/>
          </a:prstGeom>
          <a:ln w="15875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343525" y="5276850"/>
            <a:ext cx="0" cy="76200"/>
          </a:xfrm>
          <a:prstGeom prst="line">
            <a:avLst/>
          </a:prstGeom>
          <a:ln w="15875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2495550" y="5600700"/>
            <a:ext cx="228600" cy="0"/>
          </a:xfrm>
          <a:prstGeom prst="line">
            <a:avLst/>
          </a:prstGeom>
          <a:ln w="15875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495550" y="5067300"/>
            <a:ext cx="0" cy="533400"/>
          </a:xfrm>
          <a:prstGeom prst="line">
            <a:avLst/>
          </a:prstGeom>
          <a:ln w="15875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3600450" y="5105400"/>
            <a:ext cx="228600" cy="1333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100" b="1">
                <a:solidFill>
                  <a:srgbClr val="8E2B2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48300" y="5105400"/>
            <a:ext cx="228600" cy="1333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5850" y="5429250"/>
            <a:ext cx="1352550" cy="1524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1000" b="0">
                <a:solidFill>
                  <a:srgbClr val="8E2B22"/>
                </a:solidFill>
                <a:latin typeface="Microsoft YaHei"/>
                <a:ea typeface="Microsoft YaHei"/>
                <a:cs typeface="Microsoft YaHei"/>
              </a:rPr>
              <a:t>迭代后重新实测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33400" y="5905500"/>
            <a:ext cx="5657850" cy="381000"/>
          </a:xfrm>
          <a:prstGeom prst="roundRect">
            <a:avLst>
              <a:gd name="adj" fmla="val 8000"/>
            </a:avLst>
          </a:prstGeom>
          <a:solidFill>
            <a:srgbClr val="FBEEEB"/>
          </a:solidFill>
          <a:ln w="9525">
            <a:solidFill>
              <a:srgbClr val="F0D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09600" y="5991225"/>
            <a:ext cx="38100" cy="2095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23900" y="5962650"/>
            <a:ext cx="28575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8E2B22"/>
                </a:solidFill>
                <a:latin typeface="Microsoft YaHei"/>
                <a:ea typeface="Microsoft YaHei"/>
                <a:cs typeface="Microsoft YaHei"/>
              </a:rPr>
              <a:t>Skill 反向优化案例（GDN 算子）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23900" y="6115050"/>
            <a:ext cx="5334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打点过程中暴露的问题 → Skill 回收的修复 → 打点准确率提升：________（待补充）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2026-10-17T07:42:56Z</dcterms:created>
  <dcterms:modified xsi:type="dcterms:W3CDTF">2026-10-17T07:42:56Z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{"AIGC":{"Label":"1","ContentProducer":"00119111010856365494821B355","ProduceID":"01a14715c4d37acc9f28b07fef1f9f91","ReservedCode1":"","ContentPropagator":"00119111010856365494821B355","PropagateID":"01a14715c4d37acc9f28b07fef1f9f91","ReservedCode2":""}}</vt:lpwstr>
  </property>
</Properties>
</file>