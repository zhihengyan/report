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"/>
  </p:notesMasterIdLst>
  <p:sldIdLst>
    <p:sldId id="256" r:id="rId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notesMaster" Target="notesMasters/notesMaster1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3" Type="http://schemas.openxmlformats.org/officeDocument/2006/relationships/presProps" Target="presProps.xml" /><Relationship Id="rId4" Type="http://schemas.openxmlformats.org/officeDocument/2006/relationships/tableStyles" Target="tableStyles.xml" /><Relationship Id="rId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1280, height: 720, background: '#FFFFFF', flexDirection: 'column', padding: '0 80px' }}&gt;&#10;    &lt;Box style={{ height: 110, flexDirection: 'column', paddingTop: 16 }}&gt;&#10;        &lt;Text style={{ fontSize: 32, fontWeight: 'bold', color: '#C00000', fontFamily: 'SimHei', lineHeight: 1.3 }}&gt;创新案例：Profiling 打点 Skill 闭环驱动 GDN 算子优化&lt;/Text&gt;&#10;        &lt;Text style={{ fontSize: 16, color: '#666666', lineHeight: 1.4, marginTop: 6 }}&gt;首轮打点命中 DCache 写回坑 → 归因写回 Skill → 次轮达标：把「一次性人工打点」变成「可复用 skill + 实测反哺」的自收敛闭环&lt;/Text&gt;&#10;        &lt;Box style={{ height: 1, background: '#E5E5E5', marginTop: 10 }} /&gt;&#10;    &lt;/Box&gt;&#10;    &lt;Box style={{ height: 588, flexDirection: 'column' }}&gt;&#10;        &lt;Box style={{ position: 'relative', width: 1120, height: 196 }}&gt;&#10;            &lt;svg width={1120} height={196} viewBox='0 0 1120 196'&gt;&#10;                &lt;path d='M168 54 H216' fill='none' stroke='#9A9A9A' strokeWidth='1.5' /&gt;&#10;                &lt;path d='M208 49 L216 54 L208 59' fill='none' stroke='#9A9A9A' strokeWidth='1.5' /&gt;&#10;                &lt;path d='M488 54 H536' fill='none' stroke='#9A9A9A' strokeWidth='1.5' /&gt;&#10;                &lt;path d='M528 49 L536 54 L528 59' fill='none' stroke='#9A9A9A' strokeWidth='1.5' /&gt;&#10;                &lt;path d='M704 54 H760' fill='none' stroke='#9A9A9A' strokeWidth='1.5' /&gt;&#10;                &lt;path d='M752 49 L760 54 L752 59' fill='none' stroke='#9A9A9A' strokeWidth='1.5' /&gt;&#10;                &lt;path d='M838 54 H888' fill='none' stroke='#9A9A9A' strokeWidth='1.5' /&gt;&#10;                &lt;path d='M880 49 L888 54 L880 59' fill='none' stroke='#9A9A9A' strokeWidth='1.5' /&gt;&#10;                &lt;path d='M800 16 L838 54 L800 92 L762 54 Z' fill='#FFFFFF' stroke='#666666' strokeWidth='1' /&gt;&#10;                &lt;path d='M800 92 V120' fill='none' stroke='#C00000' strokeWidth='1.5' strokeDasharray='6 4' /&gt;&#10;                &lt;path d='M795 120 L800 128 L805 120' fill='none' stroke='#C00000' strokeWidth='1.5' /&gt;&#10;                &lt;path d='M640 161 H352 V100' fill='none' stroke='#C00000' strokeWidth='1.5' strokeDasharray='6 4' /&gt;&#10;                &lt;path d='M347 100 L352 92 L357 100' fill='none' stroke='#C00000' strokeWidth='1.5' /&gt;&#10;            &lt;/svg&gt;&#10;            &lt;Box style={{ position: 'absolute', left: 0, top: 16, width: 168, height: 76, border: '1px solid #BFBFBF', borderRadius: 6, background: '#FFFFFF', flexDirection: 'column', alignItems: 'center', justifyContent: 'center', gap: 4 }}&gt;&#10;                &lt;Text style={{ fontSize: 20, fontWeight: 'bold', color: '#1A1A1A', lineHeight: 1.3 }}&gt;算子工程&lt;/Text&gt;&#10;                &lt;Text style={{ fontSize: 15, color: '#7A7A7A', lineHeight: 1.3 }}&gt;GDN chunk 算子&lt;/Text&gt;&#10;            &lt;/Box&gt;&#10;            &lt;Box style={{ position: 'absolute', left: 216, top: 16, width: 272, height: 76, border: '1px solid #C00000', borderRadius: 6, background: '#FDF2F2', flexDirection: 'column', alignItems: 'center', justifyContent: 'center', gap: 4 }}&gt;&#10;                &lt;Text style={{ fontSize: 20, fontWeight: 'bold', color: '#C00000', lineHeight: 1.3 }}&gt;Profiling 打点 Skill&lt;/Text&gt;&#10;                &lt;Text style={{ fontSize: 15, color: '#8A6060', lineHeight: 1.3 }}&gt;插桩 · 采集 · 归因&lt;/Text&gt;&#10;            &lt;/Box&gt;&#10;            &lt;Box style={{ position: 'absolute', left: 536, top: 16, width: 168, height: 76, border: '1px solid #BFBFBF', borderRadius: 6, background: '#FFFFFF', flexDirection: 'column', alignItems: 'center', justifyContent: 'center', gap: 4 }}&gt;&#10;                &lt;Text style={{ fontSize: 20, fontWeight: 'bold', color: '#1A1A1A', lineHeight: 1.3 }}&gt;环境实测&lt;/Text&gt;&#10;                &lt;Text style={{ fontSize: 15, color: '#7A7A7A', lineHeight: 1.3 }}&gt;真机 NPU 跑测&lt;/Text&gt;&#10;            &lt;/Box&gt;&#10;            &lt;Box style={{ position: 'absolute', left: 754, top: 40, width: 92, height: 28, alignItems: 'center', justifyContent: 'center' }}&gt;&#10;                &lt;Text style={{ fontSize: 16, color: '#1A1A1A', lineHeight: 1.3 }}&gt;成功？&lt;/Text&gt;&#10;            &lt;/Box&gt;&#10;            &lt;Box style={{ position: 'absolute', left: 888, top: 16, width: 180, height: 76, border: '1px solid #BFBFBF', borderRadius: 6, background: '#FFFFFF', flexDirection: 'column', alignItems: 'center', justifyContent: 'center', gap: 4 }}&gt;&#10;                &lt;Text style={{ fontSize: 20, fontWeight: 'bold', color: '#1A1A1A', lineHeight: 1.3 }}&gt;达收益预期&lt;/Text&gt;&#10;                &lt;Text style={{ fontSize: 15, color: '#7A7A7A', lineHeight: 1.3 }}&gt;AB 实测确认&lt;/Text&gt;&#10;            &lt;/Box&gt;&#10;            &lt;Box style={{ position: 'absolute', left: 814, top: 100, width: 130, height: 22, alignItems: 'flex-start', justifyContent: 'center' }}&gt;&#10;                &lt;Text style={{ fontSize: 14, color: '#C00000', lineHeight: 1.3 }}&gt;否 · 未达标&lt;/Text&gt;&#10;            &lt;/Box&gt;&#10;            &lt;Box style={{ position: 'absolute', left: 640, top: 128, width: 320, height: 66, border: '1px dashed #C00000', borderRadius: 6, background: '#FFFFFF', flexDirection: 'column', alignItems: 'center', justifyContent: 'center', gap: 4 }}&gt;&#10;                &lt;Text style={{ fontSize: 18, fontWeight: 'bold', color: '#C00000', lineHeight: 1.3 }}&gt;Skill 优化&lt;/Text&gt;&#10;                &lt;Text style={{ fontSize: 13, color: '#8A6060', lineHeight: 1.3 }}&gt;归因写回规则集&lt;/Text&gt;&#10;            &lt;/Box&gt;&#10;            &lt;Box style={{ position: 'absolute', left: 0, top: 112, width: 336, height: 80, flexDirection: 'column', gap: 4 }}&gt;&#10;                &lt;Text style={{ fontSize: 14, fontWeight: 'bold', color: '#C00000', lineHeight: 1.3 }}&gt;归因回流 · 重测&lt;/Text&gt;&#10;                &lt;Text style={{ fontSize: 13, color: '#9A9A9A', lineHeight: 1.5 }}&gt;重跑的是「打点 + 实测」这一对，不是只重测一次&lt;/Text&gt;&#10;                &lt;Text style={{ fontSize: 13, color: '#9A9A9A', lineHeight: 1.5 }}&gt;所以回流箭头的终点是打点 Skill，不是环境实测&lt;/Text&gt;&#10;            &lt;/Box&gt;&#10;        &lt;/Box&gt;&#10;        &lt;Box style={{ height: 14 }} /&gt;&#10;        &lt;Box style={{ height: 102, flexDirection: 'row', border: '1px solid #EBD9A9', borderRadius: 6, background: '#FDF7E6' }}&gt;&#10;            &lt;Box style={{ width: 108, background: '#F3E4BE', flexDirection: 'column', alignItems: 'center', justifyContent: 'center', gap: 2 }}&gt;&#10;                &lt;Text style={{ fontSize: 15, fontWeight: 'bold', color: '#7A560F', lineHeight: 1.3 }}&gt;回环实例&lt;/Text&gt;&#10;                &lt;Text style={{ fontSize: 12, color: '#96793F', lineHeight: 1.3 }}&gt;踩坑 → 写回&lt;/Text&gt;&#10;            &lt;/Box&gt;&#10;            &lt;Box style={{ flex: 1, flexDirection: 'row', gap: 24, padding: '10px 16px' }}&gt;&#10;                &lt;Box style={{ flex: 1, flexDirection: 'column' }}&gt;&#10;                    &lt;Text style={{ fontSize: 13, fontWeight: 'bold', color: '#8A6212', lineHeight: 1.3 }}&gt;现象 · 首轮打点&lt;/Text&gt;&#10;                    &lt;Text style={{ fontSize: 13, color: '#5F5F5F', lineHeight: 1.5, marginTop: 4 }}&gt;Prepare 打点全零，H/O 完整&lt;/Text&gt;&#10;                    &lt;Text style={{ fontSize: 13, color: '#5F5F5F', lineHeight: 1.5 }}&gt;与数据侧反馈完全吻合&lt;/Text&gt;&#10;                &lt;/Box&gt;&#10;                &lt;Box style={{ flex: 1, flexDirection: 'column' }}&gt;&#10;                    &lt;Text style={{ fontSize: 13, fontWeight: 'bold', color: '#8A6212', lineHeight: 1.3 }}&gt;根因 · 定位&lt;/Text&gt;&#10;                    &lt;Text style={{ fontSize: 13, color: '#5F5F5F', lineHeight: 1.5, marginTop: 4 }}&gt;Prepare 关闭 kernel 末尾&lt;/Text&gt;&#10;                    &lt;Text style={{ fontSize: 13, color: '#5F5F5F', lineHeight: 1.5 }}&gt;自动 DCache 写回，计时器未写 GM&lt;/Text&gt;&#10;                &lt;/Box&gt;&#10;                &lt;Box style={{ flex: 1, flexDirection: 'column' }}&gt;&#10;                    &lt;Text style={{ fontSize: 13, fontWeight: 'bold', color: '#8A6212', lineHeight: 1.3 }}&gt;写回 Skill&lt;/Text&gt;&#10;                    &lt;Text style={{ fontSize: 13, color: '#5F5F5F', lineHeight: 1.5, marginTop: 4 }}&gt;新增芯片类型问询（仅 A5 分支）&lt;/Text&gt;&#10;                    &lt;Text style={{ fontSize: 13, color: '#5F5F5F', lineHeight: 1.5 }}&gt;踩坑记录入规则集，下次重点检查&lt;/Text&gt;&#10;                &lt;/Box&gt;&#10;                &lt;Box style={{ flex: 1, flexDirection: 'column' }}&gt;&#10;                    &lt;Text style={{ fontSize: 13, fontWeight: 'bold', color: '#8A6212', lineHeight: 1.3 }}&gt;次轮复测&lt;/Text&gt;&#10;                    &lt;Text style={{ fontSize: 13, color: '#5F5F5F', lineHeight: 1.5, marginTop: 4 }}&gt;按新规则重跑，打点数据正常&lt;/Text&gt;&#10;                    &lt;Text style={{ fontSize: 13, color: '#5F5F5F', lineHeight: 1.5 }}&gt;转入 AB 实测&lt;/Text&gt;&#10;                &lt;/Box&gt;&#10;            &lt;/Box&gt;&#10;        &lt;/Box&gt;&#10;        &lt;Box style={{ height: 14 }} /&gt;&#10;        &lt;Box style={{ height: 84, flexDirection: 'row', border: '1px solid #C3DDF2', borderRadius: 6, background: '#EDF5FC' }}&gt;&#10;            &lt;Box style={{ width: 108, background: '#D6E8F7', flexDirection: 'column', alignItems: 'center', justifyContent: 'center', gap: 2 }}&gt;&#10;                &lt;Text style={{ fontSize: 15, fontWeight: 'bold', color: '#2E6F9E', lineHeight: 1.3 }}&gt;实测数据&lt;/Text&gt;&#10;                &lt;Text style={{ fontSize: 12, color: '#4A7BA6', lineHeight: 1.3 }}&gt;AB 对照&lt;/Text&gt;&#10;            &lt;/Box&gt;&#10;            &lt;Box style={{ flex: 1, flexDirection: 'row', gap: 24, padding: '10px 16px' }}&gt;&#10;                &lt;Box style={{ flex: 1, flexDirection: 'column' }}&gt;&#10;                    &lt;Text style={{ fontSize: 13, color: '#4A7BA6', lineHeight: 1.3 }}&gt;七阶段合计（μs）&lt;/Text&gt;&#10;                    &lt;Text style={{ fontSize: 13, color: '#3A3A3A', lineHeight: 1.3, marginTop: 4 }}&gt;1704.80 → 1612.33　&lt;span style={{ fontSize: 22, fontWeight: 'bold', color: '#C00000' }}&gt;-5.42%&lt;/span&gt;&lt;/Text&gt;&#10;                &lt;/Box&gt;&#10;                &lt;Box style={{ flex: 1, flexDirection: 'column' }}&gt;&#10;                    &lt;Text style={{ fontSize: 13, color: '#4A7BA6', lineHeight: 1.3 }}&gt;Prepare（μs）· 优化点&lt;/Text&gt;&#10;                    &lt;Text style={{ fontSize: 13, color: '#3A3A3A', lineHeight: 1.3, marginTop: 4 }}&gt;714.91 → 620.64　&lt;span style={{ fontSize: 22, fontWeight: 'bold', color: '#C00000' }}&gt;-13.19%&lt;/span&gt;&lt;/Text&gt;&#10;                &lt;/Box&gt;&#10;                &lt;Box style={{ flex: 1, flexDirection: 'column' }}&gt;&#10;                    &lt;Text style={{ fontSize: 13, color: '#4A7BA6', lineHeight: 1.3 }}&gt;其余六阶段（μs）&lt;/Text&gt;&#10;                    &lt;Text style={{ fontSize: 13, color: '#3A3A3A', lineHeight: 1.3, marginTop: 4 }}&gt;+1.80　&lt;span style={{ fontSize: 22, fontWeight: 'bold', color: '#C00000' }}&gt;未外溢&lt;/span&gt;&lt;/Text&gt;&#10;                &lt;/Box&gt;&#10;                &lt;Box style={{ flex: 1, flexDirection: 'column' }}&gt;&#10;                    &lt;Text style={{ fontSize: 13, color: '#4A7BA6', lineHeight: 1.3 }}&gt;三轮复测极差（μs）&lt;/Text&gt;&#10;                    &lt;Text style={{ fontSize: 13, color: '#3A3A3A', lineHeight: 1.3, marginTop: 4 }}&gt;1.4 / 1.8　&lt;span style={{ fontSize: 22, fontWeight: 'bold', color: '#C00000' }}&gt;收敛稳定&lt;/span&gt;&lt;/Text&gt;&#10;                &lt;/Box&gt;&#10;            &lt;/Box&gt;&#10;        &lt;/Box&gt;&#10;        &lt;Box style={{ height: 14 }} /&gt;&#10;        &lt;Box style={{ height: 164, flexDirection: 'row', gap: 24 }}&gt;&#10;            &lt;Box style={{ flex: 1, flexDirection: 'column' }}&gt;&#10;                &lt;Box style={{ flexDirection: 'row', alignItems: 'center', gap: 10 }}&gt;&#10;                    &lt;Box style={{ width: 3, height: 20, background: '#C00000' }} /&gt;&#10;                    &lt;Text style={{ fontSize: 22, fontWeight: 'bold', color: '#1A1A1A', lineHeight: 1.3 }}&gt;打点能力沉淀&lt;/Text&gt;&#10;                &lt;/Box&gt;&#10;                &lt;Box style={{ height: 66, marginTop: 14 }}&gt;&#10;                    &lt;Text style={{ fontSize: 14, color: '#666666', lineHeight: 1.5 }}&gt;人工打点 → skill 固化：插桩、采集、归因三步均有模板可复用；不再依赖个人经验，跨算子可直接迁移&lt;/Text&gt;&#10;                &lt;/Box&gt;&#10;                &lt;Box style={{ height: 1, background: '#EDEDED', marginTop: 14 }} /&gt;&#10;                &lt;Text style={{ fontSize: 13, color: '#7A7A7A', lineHeight: 1.4, marginTop: 8 }}&gt;覆盖 · 7 阶段墙钟 + 7 路 pipe 计时&lt;/Text&gt;&#10;            &lt;/Box&gt;&#10;            &lt;Box style={{ flex: 1, flexDirection: 'column' }}&gt;&#10;                &lt;Box style={{ flexDirection: 'row', alignItems: 'center', gap: 10 }}&gt;&#10;                    &lt;Box style={{ width: 3, height: 20, background: '#C00000' }} /&gt;&#10;                    &lt;Text style={{ fontSize: 22, fontWeight: 'bold', color: '#1A1A1A', lineHeight: 1.3 }}&gt;失败也是资产&lt;/Text&gt;&#10;                &lt;/Box&gt;&#10;                &lt;Box style={{ height: 66, marginTop: 14 }}&gt;&#10;                    &lt;Text style={{ fontSize: 14, color: '#666666', lineHeight: 1.5 }}&gt;首轮即命中「Prepare DCache 未写回」坑；根因与写回内容一并固化进规则集，下一轮打点自动规避&lt;/Text&gt;&#10;                &lt;/Box&gt;&#10;                &lt;Box style={{ height: 1, background: '#EDEDED', marginTop: 14 }} /&gt;&#10;                &lt;Text style={{ fontSize: 13, color: '#7A7A7A', lineHeight: 1.4, marginTop: 8 }}&gt;写回 · 芯片类型问询 + 踩坑记录&lt;/Text&gt;&#10;            &lt;/Box&gt;&#10;            &lt;Box style={{ flex: 1, flexDirection: 'column' }}&gt;&#10;                &lt;Box style={{ flexDirection: 'row', alignItems: 'center', gap: 10 }}&gt;&#10;                    &lt;Box style={{ width: 3, height: 20, background: '#C00000' }} /&gt;&#10;                    &lt;Text style={{ fontSize: 22, fontWeight: 'bold', color: '#1A1A1A', lineHeight: 1.3 }}&gt;收敛有据&lt;/Text&gt;&#10;                &lt;/Box&gt;&#10;                &lt;Box style={{ height: 66, marginTop: 14 }}&gt;&#10;                    &lt;Text style={{ fontSize: 14, color: '#666666', lineHeight: 1.5 }}&gt;AB 三轮复测，合计与 Prepare 两级降幅稳定；优化严格落在 Prepare，其余六阶段合计仅 +1.80 μs，未外溢&lt;/Text&gt;&#10;                &lt;/Box&gt;&#10;                &lt;Box style={{ height: 1, background: '#EDEDED', marginTop: 14 }} /&gt;&#10;                &lt;Text style={{ fontSize: 13, color: '#7A7A7A', lineHeight: 1.4, marginTop: 8 }}&gt;降幅 · 合计 -5.42% ｜ Prepare -13.19%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762000" y="152400"/>
            <a:ext cx="10668000" cy="4762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C00000"/>
                </a:solidFill>
                <a:latin typeface="SimHei"/>
                <a:ea typeface="SimHei"/>
              </a:rPr>
              <a:t>创新案例：</a:t>
            </a:r>
            <a:r>
              <a:rPr lang="en-US" sz="2400" b="1">
                <a:solidFill>
                  <a:srgbClr val="C00000"/>
                </a:solidFill>
                <a:latin typeface="SimHei"/>
                <a:ea typeface="SimHei"/>
              </a:rPr>
              <a:t xml:space="preserve">Profiling </a:t>
            </a:r>
            <a:r>
              <a:rPr lang="zh-CN" sz="2400" b="1">
                <a:solidFill>
                  <a:srgbClr val="C00000"/>
                </a:solidFill>
                <a:latin typeface="SimHei"/>
                <a:ea typeface="SimHei"/>
              </a:rPr>
              <a:t>打点</a:t>
            </a:r>
            <a:r>
              <a:rPr lang="en-US" sz="2400" b="1">
                <a:solidFill>
                  <a:srgbClr val="C00000"/>
                </a:solidFill>
                <a:latin typeface="SimHei"/>
                <a:ea typeface="SimHei"/>
              </a:rPr>
              <a:t xml:space="preserve"> Skill </a:t>
            </a:r>
            <a:r>
              <a:rPr lang="zh-CN" sz="2400" b="1">
                <a:solidFill>
                  <a:srgbClr val="C00000"/>
                </a:solidFill>
                <a:latin typeface="SimHei"/>
                <a:ea typeface="SimHei"/>
              </a:rPr>
              <a:t>闭环驱动</a:t>
            </a:r>
            <a:r>
              <a:rPr lang="en-US" sz="2400" b="1">
                <a:solidFill>
                  <a:srgbClr val="C00000"/>
                </a:solidFill>
                <a:latin typeface="SimHei"/>
                <a:ea typeface="SimHei"/>
              </a:rPr>
              <a:t xml:space="preserve"> GDN </a:t>
            </a:r>
            <a:r>
              <a:rPr lang="zh-CN" sz="2400" b="1">
                <a:solidFill>
                  <a:srgbClr val="C00000"/>
                </a:solidFill>
                <a:latin typeface="SimHei"/>
                <a:ea typeface="SimHei"/>
              </a:rPr>
              <a:t>算子优化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685800"/>
            <a:ext cx="10668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666666"/>
                </a:solidFill>
                <a:latin typeface="Microsoft YaHei"/>
                <a:ea typeface="Microsoft YaHei"/>
              </a:rPr>
              <a:t>首轮打点命中</a:t>
            </a:r>
            <a:r>
              <a:rPr lang="en-US" sz="1200">
                <a:solidFill>
                  <a:srgbClr val="666666"/>
                </a:solidFill>
                <a:latin typeface="Microsoft YaHei"/>
                <a:ea typeface="Microsoft YaHei"/>
              </a:rPr>
              <a:t xml:space="preserve"> DCache </a:t>
            </a:r>
            <a:r>
              <a:rPr lang="zh-CN" sz="1200">
                <a:solidFill>
                  <a:srgbClr val="666666"/>
                </a:solidFill>
                <a:latin typeface="Microsoft YaHei"/>
                <a:ea typeface="Microsoft YaHei"/>
              </a:rPr>
              <a:t>写回坑</a:t>
            </a:r>
            <a:r>
              <a:rPr lang="en-US" sz="1200">
                <a:solidFill>
                  <a:srgbClr val="666666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666666"/>
                </a:solidFill>
                <a:latin typeface="Microsoft YaHei"/>
                <a:ea typeface="Microsoft YaHei"/>
              </a:rPr>
              <a:t>归因写回</a:t>
            </a:r>
            <a:r>
              <a:rPr lang="en-US" sz="1200">
                <a:solidFill>
                  <a:srgbClr val="666666"/>
                </a:solidFill>
                <a:latin typeface="Microsoft YaHei"/>
                <a:ea typeface="Microsoft YaHei"/>
              </a:rPr>
              <a:t xml:space="preserve"> Skill → </a:t>
            </a:r>
            <a:r>
              <a:rPr lang="zh-CN" sz="1200">
                <a:solidFill>
                  <a:srgbClr val="666666"/>
                </a:solidFill>
                <a:latin typeface="Microsoft YaHei"/>
                <a:ea typeface="Microsoft YaHei"/>
              </a:rPr>
              <a:t>次轮达标：把「一次性人工打点」变成「可复用</a:t>
            </a:r>
            <a:r>
              <a:rPr lang="en-US" sz="1200">
                <a:solidFill>
                  <a:srgbClr val="666666"/>
                </a:solidFill>
                <a:latin typeface="Microsoft YaHei"/>
                <a:ea typeface="Microsoft YaHei"/>
              </a:rPr>
              <a:t xml:space="preserve"> skill + </a:t>
            </a:r>
            <a:r>
              <a:rPr lang="zh-CN" sz="1200">
                <a:solidFill>
                  <a:srgbClr val="666666"/>
                </a:solidFill>
                <a:latin typeface="Microsoft YaHei"/>
                <a:ea typeface="Microsoft YaHei"/>
              </a:rPr>
              <a:t>实测反哺」的自收敛闭环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762000" y="1038225"/>
            <a:ext cx="10668000" cy="95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762000" y="3048000"/>
            <a:ext cx="10668000" cy="971550"/>
          </a:xfrm>
          <a:prstGeom prst="roundRect">
            <a:avLst>
              <a:gd name="adj" fmla="val 5882"/>
            </a:avLst>
          </a:prstGeom>
          <a:solidFill>
            <a:srgbClr val="FDF7E6"/>
          </a:solidFill>
          <a:ln w="12700">
            <a:solidFill>
              <a:srgbClr val="EBD9A9"/>
            </a:solidFill>
            <a:prstDash val="solid"/>
          </a:ln>
        </p:spPr>
        <p:txBody>
          <a:bodyPr/>
          <a:p/>
        </p:txBody>
      </p:sp>
      <p:sp>
        <p:nvSpPr>
          <p:cNvPr id="7" name=""/>
          <p:cNvSpPr/>
          <p:nvPr/>
        </p:nvSpPr>
        <p:spPr>
          <a:xfrm rot="0" flipH="0" flipV="0">
            <a:off x="762000" y="3048000"/>
            <a:ext cx="1028700" cy="971550"/>
          </a:xfrm>
          <a:prstGeom prst="rect">
            <a:avLst/>
          </a:prstGeom>
          <a:solidFill>
            <a:srgbClr val="F3E4BE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90600" y="3324225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 b="1">
                <a:solidFill>
                  <a:srgbClr val="7A560F"/>
                </a:solidFill>
                <a:latin typeface="Microsoft YaHei"/>
                <a:ea typeface="Microsoft YaHei"/>
              </a:rPr>
              <a:t>回环实例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52500" y="3571875"/>
            <a:ext cx="64770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rgbClr val="96793F"/>
                </a:solidFill>
                <a:latin typeface="Microsoft YaHei"/>
                <a:ea typeface="Microsoft YaHei"/>
              </a:rPr>
              <a:t>踩坑</a:t>
            </a:r>
            <a:r>
              <a:rPr lang="en-US" sz="900">
                <a:solidFill>
                  <a:srgbClr val="96793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96793F"/>
                </a:solidFill>
                <a:latin typeface="Microsoft YaHei"/>
                <a:ea typeface="Microsoft YaHei"/>
              </a:rPr>
              <a:t>写回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943100" y="3143250"/>
            <a:ext cx="2162175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 b="1">
                <a:solidFill>
                  <a:srgbClr val="8A6212"/>
                </a:solidFill>
                <a:latin typeface="Microsoft YaHei"/>
                <a:ea typeface="Microsoft YaHei"/>
              </a:rPr>
              <a:t>现象</a:t>
            </a:r>
            <a:r>
              <a:rPr lang="en-US" sz="975" b="1">
                <a:solidFill>
                  <a:srgbClr val="8A6212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>
                <a:solidFill>
                  <a:srgbClr val="8A6212"/>
                </a:solidFill>
                <a:latin typeface="Microsoft YaHei"/>
                <a:ea typeface="Microsoft YaHei"/>
              </a:rPr>
              <a:t>首轮打点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943100" y="3381375"/>
            <a:ext cx="21621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5F5F5F"/>
                </a:solidFill>
                <a:latin typeface="Microsoft YaHei"/>
                <a:ea typeface="Microsoft YaHei"/>
              </a:rPr>
              <a:t xml:space="preserve">Prepare </a:t>
            </a:r>
            <a:r>
              <a:rPr lang="zh-CN" sz="975">
                <a:solidFill>
                  <a:srgbClr val="5F5F5F"/>
                </a:solidFill>
                <a:latin typeface="Microsoft YaHei"/>
                <a:ea typeface="Microsoft YaHei"/>
              </a:rPr>
              <a:t>打点全零，</a:t>
            </a:r>
            <a:r>
              <a:rPr lang="en-US" sz="975">
                <a:solidFill>
                  <a:srgbClr val="5F5F5F"/>
                </a:solidFill>
                <a:latin typeface="Microsoft YaHei"/>
                <a:ea typeface="Microsoft YaHei"/>
              </a:rPr>
              <a:t xml:space="preserve">H/O </a:t>
            </a:r>
            <a:r>
              <a:rPr lang="zh-CN" sz="975">
                <a:solidFill>
                  <a:srgbClr val="5F5F5F"/>
                </a:solidFill>
                <a:latin typeface="Microsoft YaHei"/>
                <a:ea typeface="Microsoft YaHei"/>
              </a:rPr>
              <a:t>完整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943100" y="3609975"/>
            <a:ext cx="21621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F5F5F"/>
                </a:solidFill>
                <a:latin typeface="Microsoft YaHei"/>
                <a:ea typeface="Microsoft YaHei"/>
              </a:rPr>
              <a:t>与数据侧反馈完全吻合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4333875" y="3143250"/>
            <a:ext cx="2162175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 b="1">
                <a:solidFill>
                  <a:srgbClr val="8A6212"/>
                </a:solidFill>
                <a:latin typeface="Microsoft YaHei"/>
                <a:ea typeface="Microsoft YaHei"/>
              </a:rPr>
              <a:t>根因</a:t>
            </a:r>
            <a:r>
              <a:rPr lang="en-US" sz="975" b="1">
                <a:solidFill>
                  <a:srgbClr val="8A6212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>
                <a:solidFill>
                  <a:srgbClr val="8A6212"/>
                </a:solidFill>
                <a:latin typeface="Microsoft YaHei"/>
                <a:ea typeface="Microsoft YaHei"/>
              </a:rPr>
              <a:t>定位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333875" y="3381375"/>
            <a:ext cx="21621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5F5F5F"/>
                </a:solidFill>
                <a:latin typeface="Microsoft YaHei"/>
                <a:ea typeface="Microsoft YaHei"/>
              </a:rPr>
              <a:t xml:space="preserve">Prepare </a:t>
            </a:r>
            <a:r>
              <a:rPr lang="zh-CN" sz="975">
                <a:solidFill>
                  <a:srgbClr val="5F5F5F"/>
                </a:solidFill>
                <a:latin typeface="Microsoft YaHei"/>
                <a:ea typeface="Microsoft YaHei"/>
              </a:rPr>
              <a:t>关闭</a:t>
            </a:r>
            <a:r>
              <a:rPr lang="en-US" sz="975">
                <a:solidFill>
                  <a:srgbClr val="5F5F5F"/>
                </a:solidFill>
                <a:latin typeface="Microsoft YaHei"/>
                <a:ea typeface="Microsoft YaHei"/>
              </a:rPr>
              <a:t xml:space="preserve"> kernel </a:t>
            </a:r>
            <a:r>
              <a:rPr lang="zh-CN" sz="975">
                <a:solidFill>
                  <a:srgbClr val="5F5F5F"/>
                </a:solidFill>
                <a:latin typeface="Microsoft YaHei"/>
                <a:ea typeface="Microsoft YaHei"/>
              </a:rPr>
              <a:t>末尾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333875" y="3609975"/>
            <a:ext cx="21621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F5F5F"/>
                </a:solidFill>
                <a:latin typeface="Microsoft YaHei"/>
                <a:ea typeface="Microsoft YaHei"/>
              </a:rPr>
              <a:t>自动</a:t>
            </a:r>
            <a:r>
              <a:rPr lang="en-US" sz="975">
                <a:solidFill>
                  <a:srgbClr val="5F5F5F"/>
                </a:solidFill>
                <a:latin typeface="Microsoft YaHei"/>
                <a:ea typeface="Microsoft YaHei"/>
              </a:rPr>
              <a:t xml:space="preserve"> DCache </a:t>
            </a:r>
            <a:r>
              <a:rPr lang="zh-CN" sz="975">
                <a:solidFill>
                  <a:srgbClr val="5F5F5F"/>
                </a:solidFill>
                <a:latin typeface="Microsoft YaHei"/>
                <a:ea typeface="Microsoft YaHei"/>
              </a:rPr>
              <a:t>写回，计时器未写</a:t>
            </a:r>
            <a:r>
              <a:rPr lang="en-US" sz="975">
                <a:solidFill>
                  <a:srgbClr val="5F5F5F"/>
                </a:solidFill>
                <a:latin typeface="Microsoft YaHei"/>
                <a:ea typeface="Microsoft YaHei"/>
              </a:rPr>
              <a:t xml:space="preserve"> GM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724650" y="3143250"/>
            <a:ext cx="2162175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 b="1">
                <a:solidFill>
                  <a:srgbClr val="8A6212"/>
                </a:solidFill>
                <a:latin typeface="Microsoft YaHei"/>
                <a:ea typeface="Microsoft YaHei"/>
              </a:rPr>
              <a:t>写回</a:t>
            </a:r>
            <a:r>
              <a:rPr lang="en-US" sz="975" b="1">
                <a:solidFill>
                  <a:srgbClr val="8A6212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724650" y="3381375"/>
            <a:ext cx="21621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F5F5F"/>
                </a:solidFill>
                <a:latin typeface="Microsoft YaHei"/>
                <a:ea typeface="Microsoft YaHei"/>
              </a:rPr>
              <a:t>新增芯片类型问询（仅</a:t>
            </a:r>
            <a:r>
              <a:rPr lang="en-US" sz="975">
                <a:solidFill>
                  <a:srgbClr val="5F5F5F"/>
                </a:solidFill>
                <a:latin typeface="Microsoft YaHei"/>
                <a:ea typeface="Microsoft YaHei"/>
              </a:rPr>
              <a:t xml:space="preserve"> A5 </a:t>
            </a:r>
            <a:r>
              <a:rPr lang="zh-CN" sz="975">
                <a:solidFill>
                  <a:srgbClr val="5F5F5F"/>
                </a:solidFill>
                <a:latin typeface="Microsoft YaHei"/>
                <a:ea typeface="Microsoft YaHei"/>
              </a:rPr>
              <a:t>分支）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724650" y="3609975"/>
            <a:ext cx="21621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F5F5F"/>
                </a:solidFill>
                <a:latin typeface="Microsoft YaHei"/>
                <a:ea typeface="Microsoft YaHei"/>
              </a:rPr>
              <a:t>踩坑记录入规则集，下次重点检查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9115425" y="3143250"/>
            <a:ext cx="2162175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 b="1">
                <a:solidFill>
                  <a:srgbClr val="8A6212"/>
                </a:solidFill>
                <a:latin typeface="Microsoft YaHei"/>
                <a:ea typeface="Microsoft YaHei"/>
              </a:rPr>
              <a:t>次轮复测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9115425" y="3381375"/>
            <a:ext cx="21621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F5F5F"/>
                </a:solidFill>
                <a:latin typeface="Microsoft YaHei"/>
                <a:ea typeface="Microsoft YaHei"/>
              </a:rPr>
              <a:t>按新规则重跑，打点数据正常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115425" y="3609975"/>
            <a:ext cx="21621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F5F5F"/>
                </a:solidFill>
                <a:latin typeface="Microsoft YaHei"/>
                <a:ea typeface="Microsoft YaHei"/>
              </a:rPr>
              <a:t>转入</a:t>
            </a:r>
            <a:r>
              <a:rPr lang="en-US" sz="975">
                <a:solidFill>
                  <a:srgbClr val="5F5F5F"/>
                </a:solidFill>
                <a:latin typeface="Microsoft YaHei"/>
                <a:ea typeface="Microsoft YaHei"/>
              </a:rPr>
              <a:t xml:space="preserve"> AB </a:t>
            </a:r>
            <a:r>
              <a:rPr lang="zh-CN" sz="975">
                <a:solidFill>
                  <a:srgbClr val="5F5F5F"/>
                </a:solidFill>
                <a:latin typeface="Microsoft YaHei"/>
                <a:ea typeface="Microsoft YaHei"/>
              </a:rPr>
              <a:t>实测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762000" y="4152900"/>
            <a:ext cx="10668000" cy="800100"/>
          </a:xfrm>
          <a:prstGeom prst="roundRect">
            <a:avLst>
              <a:gd name="adj" fmla="val 7143"/>
            </a:avLst>
          </a:prstGeom>
          <a:solidFill>
            <a:srgbClr val="EDF5FC"/>
          </a:solidFill>
          <a:ln w="12700">
            <a:solidFill>
              <a:srgbClr val="C3DDF2"/>
            </a:solidFill>
            <a:prstDash val="solid"/>
          </a:ln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762000" y="4152900"/>
            <a:ext cx="1028700" cy="800100"/>
          </a:xfrm>
          <a:prstGeom prst="rect">
            <a:avLst/>
          </a:prstGeom>
          <a:solidFill>
            <a:srgbClr val="D6E8F7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990600" y="4343400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 b="1">
                <a:solidFill>
                  <a:srgbClr val="2E6F9E"/>
                </a:solidFill>
                <a:latin typeface="Microsoft YaHei"/>
                <a:ea typeface="Microsoft YaHei"/>
              </a:rPr>
              <a:t>实测数据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066800" y="4591050"/>
            <a:ext cx="41910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900">
                <a:solidFill>
                  <a:srgbClr val="4A7BA6"/>
                </a:solidFill>
                <a:latin typeface="Microsoft YaHei"/>
                <a:ea typeface="Microsoft YaHei"/>
              </a:rPr>
              <a:t xml:space="preserve">AB </a:t>
            </a:r>
            <a:r>
              <a:rPr lang="zh-CN" sz="900">
                <a:solidFill>
                  <a:srgbClr val="4A7BA6"/>
                </a:solidFill>
                <a:latin typeface="Microsoft YaHei"/>
                <a:ea typeface="Microsoft YaHei"/>
              </a:rPr>
              <a:t>对照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943100" y="4248150"/>
            <a:ext cx="2162175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>
                <a:solidFill>
                  <a:srgbClr val="4A7BA6"/>
                </a:solidFill>
                <a:latin typeface="Microsoft YaHei"/>
                <a:ea typeface="Microsoft YaHei"/>
              </a:rPr>
              <a:t>七阶段合计（μ</a:t>
            </a:r>
            <a:r>
              <a:rPr lang="en-US" sz="975">
                <a:solidFill>
                  <a:srgbClr val="4A7BA6"/>
                </a:solidFill>
                <a:latin typeface="Microsoft YaHei"/>
                <a:ea typeface="Microsoft YaHei"/>
              </a:rPr>
              <a:t>s</a:t>
            </a:r>
            <a:r>
              <a:rPr lang="zh-CN" sz="975">
                <a:solidFill>
                  <a:srgbClr val="4A7BA6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943100" y="4486275"/>
            <a:ext cx="216217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975">
                <a:solidFill>
                  <a:srgbClr val="3A3A3A"/>
                </a:solidFill>
                <a:latin typeface="Microsoft YaHei"/>
                <a:ea typeface="Microsoft YaHei"/>
              </a:rPr>
              <a:t>1704.80 → 1612.33</a:t>
            </a:r>
            <a:r>
              <a:rPr lang="zh-CN" sz="975">
                <a:solidFill>
                  <a:srgbClr val="3A3A3A"/>
                </a:solidFill>
                <a:latin typeface="Microsoft YaHei"/>
                <a:ea typeface="Microsoft YaHei"/>
              </a:rPr>
              <a:t>　</a:t>
            </a:r>
            <a:r>
              <a:rPr lang="en-US" sz="1650" b="1">
                <a:solidFill>
                  <a:srgbClr val="C00000"/>
                </a:solidFill>
                <a:latin typeface="Microsoft YaHei"/>
                <a:ea typeface="Microsoft YaHei"/>
              </a:rPr>
              <a:t>-5.42%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333875" y="4248150"/>
            <a:ext cx="2162175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975">
                <a:solidFill>
                  <a:srgbClr val="4A7BA6"/>
                </a:solidFill>
                <a:latin typeface="Microsoft YaHei"/>
                <a:ea typeface="Microsoft YaHei"/>
              </a:rPr>
              <a:t>Prepare</a:t>
            </a:r>
            <a:r>
              <a:rPr lang="zh-CN" sz="975">
                <a:solidFill>
                  <a:srgbClr val="4A7BA6"/>
                </a:solidFill>
                <a:latin typeface="Microsoft YaHei"/>
                <a:ea typeface="Microsoft YaHei"/>
              </a:rPr>
              <a:t>（μ</a:t>
            </a:r>
            <a:r>
              <a:rPr lang="en-US" sz="975">
                <a:solidFill>
                  <a:srgbClr val="4A7BA6"/>
                </a:solidFill>
                <a:latin typeface="Microsoft YaHei"/>
                <a:ea typeface="Microsoft YaHei"/>
              </a:rPr>
              <a:t>s</a:t>
            </a:r>
            <a:r>
              <a:rPr lang="zh-CN" sz="975">
                <a:solidFill>
                  <a:srgbClr val="4A7BA6"/>
                </a:solidFill>
                <a:latin typeface="Microsoft YaHei"/>
                <a:ea typeface="Microsoft YaHei"/>
              </a:rPr>
              <a:t>）·</a:t>
            </a:r>
            <a:r>
              <a:rPr lang="en-US" sz="975">
                <a:solidFill>
                  <a:srgbClr val="4A7BA6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4A7BA6"/>
                </a:solidFill>
                <a:latin typeface="Microsoft YaHei"/>
                <a:ea typeface="Microsoft YaHei"/>
              </a:rPr>
              <a:t>优化点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333875" y="4486275"/>
            <a:ext cx="216217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975">
                <a:solidFill>
                  <a:srgbClr val="3A3A3A"/>
                </a:solidFill>
                <a:latin typeface="Microsoft YaHei"/>
                <a:ea typeface="Microsoft YaHei"/>
              </a:rPr>
              <a:t>714.91 → 620.64</a:t>
            </a:r>
            <a:r>
              <a:rPr lang="zh-CN" sz="975">
                <a:solidFill>
                  <a:srgbClr val="3A3A3A"/>
                </a:solidFill>
                <a:latin typeface="Microsoft YaHei"/>
                <a:ea typeface="Microsoft YaHei"/>
              </a:rPr>
              <a:t>　</a:t>
            </a:r>
            <a:r>
              <a:rPr lang="en-US" sz="1650" b="1">
                <a:solidFill>
                  <a:srgbClr val="C00000"/>
                </a:solidFill>
                <a:latin typeface="Microsoft YaHei"/>
                <a:ea typeface="Microsoft YaHei"/>
              </a:rPr>
              <a:t>-13.19%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724650" y="4248150"/>
            <a:ext cx="2162175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>
                <a:solidFill>
                  <a:srgbClr val="4A7BA6"/>
                </a:solidFill>
                <a:latin typeface="Microsoft YaHei"/>
                <a:ea typeface="Microsoft YaHei"/>
              </a:rPr>
              <a:t>其余六阶段（μ</a:t>
            </a:r>
            <a:r>
              <a:rPr lang="en-US" sz="975">
                <a:solidFill>
                  <a:srgbClr val="4A7BA6"/>
                </a:solidFill>
                <a:latin typeface="Microsoft YaHei"/>
                <a:ea typeface="Microsoft YaHei"/>
              </a:rPr>
              <a:t>s</a:t>
            </a:r>
            <a:r>
              <a:rPr lang="zh-CN" sz="975">
                <a:solidFill>
                  <a:srgbClr val="4A7BA6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724650" y="4486275"/>
            <a:ext cx="216217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975">
                <a:solidFill>
                  <a:srgbClr val="3A3A3A"/>
                </a:solidFill>
                <a:latin typeface="Microsoft YaHei"/>
                <a:ea typeface="Microsoft YaHei"/>
              </a:rPr>
              <a:t>+1.80</a:t>
            </a:r>
            <a:r>
              <a:rPr lang="zh-CN" sz="975">
                <a:solidFill>
                  <a:srgbClr val="3A3A3A"/>
                </a:solidFill>
                <a:latin typeface="Microsoft YaHei"/>
                <a:ea typeface="Microsoft YaHei"/>
              </a:rPr>
              <a:t>　</a:t>
            </a:r>
            <a:r>
              <a:rPr lang="zh-CN" sz="1650" b="1">
                <a:solidFill>
                  <a:srgbClr val="C00000"/>
                </a:solidFill>
                <a:latin typeface="Microsoft YaHei"/>
                <a:ea typeface="Microsoft YaHei"/>
              </a:rPr>
              <a:t>未外溢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9115425" y="4248150"/>
            <a:ext cx="2162175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>
                <a:solidFill>
                  <a:srgbClr val="4A7BA6"/>
                </a:solidFill>
                <a:latin typeface="Microsoft YaHei"/>
                <a:ea typeface="Microsoft YaHei"/>
              </a:rPr>
              <a:t>三轮复测极差（μ</a:t>
            </a:r>
            <a:r>
              <a:rPr lang="en-US" sz="975">
                <a:solidFill>
                  <a:srgbClr val="4A7BA6"/>
                </a:solidFill>
                <a:latin typeface="Microsoft YaHei"/>
                <a:ea typeface="Microsoft YaHei"/>
              </a:rPr>
              <a:t>s</a:t>
            </a:r>
            <a:r>
              <a:rPr lang="zh-CN" sz="975">
                <a:solidFill>
                  <a:srgbClr val="4A7BA6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9115425" y="4486275"/>
            <a:ext cx="216217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975">
                <a:solidFill>
                  <a:srgbClr val="3A3A3A"/>
                </a:solidFill>
                <a:latin typeface="Microsoft YaHei"/>
                <a:ea typeface="Microsoft YaHei"/>
              </a:rPr>
              <a:t>1.4 / 1.8</a:t>
            </a:r>
            <a:r>
              <a:rPr lang="zh-CN" sz="975">
                <a:solidFill>
                  <a:srgbClr val="3A3A3A"/>
                </a:solidFill>
                <a:latin typeface="Microsoft YaHei"/>
                <a:ea typeface="Microsoft YaHei"/>
              </a:rPr>
              <a:t>　</a:t>
            </a:r>
            <a:r>
              <a:rPr lang="zh-CN" sz="1650" b="1">
                <a:solidFill>
                  <a:srgbClr val="C00000"/>
                </a:solidFill>
                <a:latin typeface="Microsoft YaHei"/>
                <a:ea typeface="Microsoft YaHei"/>
              </a:rPr>
              <a:t>收敛稳定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762000" y="5162550"/>
            <a:ext cx="28575" cy="19050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85825" y="5086350"/>
            <a:ext cx="12573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A1A1A"/>
                </a:solidFill>
                <a:latin typeface="Microsoft YaHei"/>
                <a:ea typeface="Microsoft YaHei"/>
              </a:rPr>
              <a:t>打点能力沉淀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62000" y="5553075"/>
            <a:ext cx="34004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666666"/>
                </a:solidFill>
                <a:latin typeface="Microsoft YaHei"/>
                <a:ea typeface="Microsoft YaHei"/>
              </a:rPr>
              <a:t>人工打点</a:t>
            </a:r>
            <a:r>
              <a:rPr lang="en-US" sz="1050">
                <a:solidFill>
                  <a:srgbClr val="666666"/>
                </a:solidFill>
                <a:latin typeface="Microsoft YaHei"/>
                <a:ea typeface="Microsoft YaHei"/>
              </a:rPr>
              <a:t xml:space="preserve"> → skill </a:t>
            </a:r>
            <a:r>
              <a:rPr lang="zh-CN" sz="1050">
                <a:solidFill>
                  <a:srgbClr val="666666"/>
                </a:solidFill>
                <a:latin typeface="Microsoft YaHei"/>
                <a:ea typeface="Microsoft YaHei"/>
              </a:rPr>
              <a:t>固化：插桩、采集、归因三步均有模板可复用；不再依赖个人经验，跨算子可直接迁移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762000" y="6315075"/>
            <a:ext cx="3400425" cy="9525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62000" y="6400800"/>
            <a:ext cx="34004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7A7A7A"/>
                </a:solidFill>
                <a:latin typeface="Microsoft YaHei"/>
                <a:ea typeface="Microsoft YaHei"/>
              </a:rPr>
              <a:t>覆盖</a:t>
            </a:r>
            <a:r>
              <a:rPr lang="en-US" sz="975">
                <a:solidFill>
                  <a:srgbClr val="7A7A7A"/>
                </a:solidFill>
                <a:latin typeface="Microsoft YaHei"/>
                <a:ea typeface="Microsoft YaHei"/>
              </a:rPr>
              <a:t xml:space="preserve"> · 7 </a:t>
            </a:r>
            <a:r>
              <a:rPr lang="zh-CN" sz="975">
                <a:solidFill>
                  <a:srgbClr val="7A7A7A"/>
                </a:solidFill>
                <a:latin typeface="Microsoft YaHei"/>
                <a:ea typeface="Microsoft YaHei"/>
              </a:rPr>
              <a:t>阶段墙钟</a:t>
            </a:r>
            <a:r>
              <a:rPr lang="en-US" sz="975">
                <a:solidFill>
                  <a:srgbClr val="7A7A7A"/>
                </a:solidFill>
                <a:latin typeface="Microsoft YaHei"/>
                <a:ea typeface="Microsoft YaHei"/>
              </a:rPr>
              <a:t xml:space="preserve"> + 7 </a:t>
            </a:r>
            <a:r>
              <a:rPr lang="zh-CN" sz="975">
                <a:solidFill>
                  <a:srgbClr val="7A7A7A"/>
                </a:solidFill>
                <a:latin typeface="Microsoft YaHei"/>
                <a:ea typeface="Microsoft YaHei"/>
              </a:rPr>
              <a:t>路</a:t>
            </a:r>
            <a:r>
              <a:rPr lang="en-US" sz="975">
                <a:solidFill>
                  <a:srgbClr val="7A7A7A"/>
                </a:solidFill>
                <a:latin typeface="Microsoft YaHei"/>
                <a:ea typeface="Microsoft YaHei"/>
              </a:rPr>
              <a:t xml:space="preserve"> pipe </a:t>
            </a:r>
            <a:r>
              <a:rPr lang="zh-CN" sz="975">
                <a:solidFill>
                  <a:srgbClr val="7A7A7A"/>
                </a:solidFill>
                <a:latin typeface="Microsoft YaHei"/>
                <a:ea typeface="Microsoft YaHei"/>
              </a:rPr>
              <a:t>计时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4391025" y="5162550"/>
            <a:ext cx="28575" cy="19050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514850" y="5086350"/>
            <a:ext cx="12573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A1A1A"/>
                </a:solidFill>
                <a:latin typeface="Microsoft YaHei"/>
                <a:ea typeface="Microsoft YaHei"/>
              </a:rPr>
              <a:t>失败也是资产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391025" y="5553075"/>
            <a:ext cx="34099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666666"/>
                </a:solidFill>
                <a:latin typeface="Microsoft YaHei"/>
                <a:ea typeface="Microsoft YaHei"/>
              </a:rPr>
              <a:t>首轮即命中「</a:t>
            </a:r>
            <a:r>
              <a:rPr lang="en-US" sz="1050">
                <a:solidFill>
                  <a:srgbClr val="666666"/>
                </a:solidFill>
                <a:latin typeface="Microsoft YaHei"/>
                <a:ea typeface="Microsoft YaHei"/>
              </a:rPr>
              <a:t xml:space="preserve">Prepare DCache </a:t>
            </a:r>
            <a:r>
              <a:rPr lang="zh-CN" sz="1050">
                <a:solidFill>
                  <a:srgbClr val="666666"/>
                </a:solidFill>
                <a:latin typeface="Microsoft YaHei"/>
                <a:ea typeface="Microsoft YaHei"/>
              </a:rPr>
              <a:t>未写回」坑；根因与写回内容一并固化进规则集，下一轮打点自动规避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4391025" y="6315075"/>
            <a:ext cx="3409950" cy="9525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4391025" y="6400800"/>
            <a:ext cx="34099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7A7A7A"/>
                </a:solidFill>
                <a:latin typeface="Microsoft YaHei"/>
                <a:ea typeface="Microsoft YaHei"/>
              </a:rPr>
              <a:t>写回</a:t>
            </a:r>
            <a:r>
              <a:rPr lang="en-US" sz="975">
                <a:solidFill>
                  <a:srgbClr val="7A7A7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7A7A7A"/>
                </a:solidFill>
                <a:latin typeface="Microsoft YaHei"/>
                <a:ea typeface="Microsoft YaHei"/>
              </a:rPr>
              <a:t>芯片类型问询</a:t>
            </a:r>
            <a:r>
              <a:rPr lang="en-US" sz="975">
                <a:solidFill>
                  <a:srgbClr val="7A7A7A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7A7A7A"/>
                </a:solidFill>
                <a:latin typeface="Microsoft YaHei"/>
                <a:ea typeface="Microsoft YaHei"/>
              </a:rPr>
              <a:t>踩坑记录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8029575" y="5162550"/>
            <a:ext cx="28575" cy="19050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153400" y="5086350"/>
            <a:ext cx="8382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A1A1A"/>
                </a:solidFill>
                <a:latin typeface="Microsoft YaHei"/>
                <a:ea typeface="Microsoft YaHei"/>
              </a:rPr>
              <a:t>收敛有据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029575" y="5553075"/>
            <a:ext cx="34004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666666"/>
                </a:solidFill>
                <a:latin typeface="Microsoft YaHei"/>
                <a:ea typeface="Microsoft YaHei"/>
              </a:rPr>
              <a:t xml:space="preserve">AB </a:t>
            </a:r>
            <a:r>
              <a:rPr lang="zh-CN" sz="1050">
                <a:solidFill>
                  <a:srgbClr val="666666"/>
                </a:solidFill>
                <a:latin typeface="Microsoft YaHei"/>
                <a:ea typeface="Microsoft YaHei"/>
              </a:rPr>
              <a:t>三轮复测，合计与</a:t>
            </a:r>
            <a:r>
              <a:rPr lang="en-US" sz="1050">
                <a:solidFill>
                  <a:srgbClr val="666666"/>
                </a:solidFill>
                <a:latin typeface="Microsoft YaHei"/>
                <a:ea typeface="Microsoft YaHei"/>
              </a:rPr>
              <a:t xml:space="preserve"> Prepare </a:t>
            </a:r>
            <a:r>
              <a:rPr lang="zh-CN" sz="1050">
                <a:solidFill>
                  <a:srgbClr val="666666"/>
                </a:solidFill>
                <a:latin typeface="Microsoft YaHei"/>
                <a:ea typeface="Microsoft YaHei"/>
              </a:rPr>
              <a:t>两级降幅稳定；优化严格落在</a:t>
            </a:r>
            <a:r>
              <a:rPr lang="en-US" sz="1050">
                <a:solidFill>
                  <a:srgbClr val="666666"/>
                </a:solidFill>
                <a:latin typeface="Microsoft YaHei"/>
                <a:ea typeface="Microsoft YaHei"/>
              </a:rPr>
              <a:t xml:space="preserve"> Prepare</a:t>
            </a:r>
            <a:r>
              <a:rPr lang="zh-CN" sz="1050">
                <a:solidFill>
                  <a:srgbClr val="666666"/>
                </a:solidFill>
                <a:latin typeface="Microsoft YaHei"/>
                <a:ea typeface="Microsoft YaHei"/>
              </a:rPr>
              <a:t>，其余六阶段合计仅</a:t>
            </a:r>
            <a:r>
              <a:rPr lang="en-US" sz="1050">
                <a:solidFill>
                  <a:srgbClr val="666666"/>
                </a:solidFill>
                <a:latin typeface="Microsoft YaHei"/>
                <a:ea typeface="Microsoft YaHei"/>
              </a:rPr>
              <a:t xml:space="preserve"> +1.80 μs</a:t>
            </a:r>
            <a:r>
              <a:rPr lang="zh-CN" sz="1050">
                <a:solidFill>
                  <a:srgbClr val="666666"/>
                </a:solidFill>
                <a:latin typeface="Microsoft YaHei"/>
                <a:ea typeface="Microsoft YaHei"/>
              </a:rPr>
              <a:t>，未外溢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8029575" y="6315075"/>
            <a:ext cx="3400425" cy="9525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029575" y="6400800"/>
            <a:ext cx="34004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7A7A7A"/>
                </a:solidFill>
                <a:latin typeface="Microsoft YaHei"/>
                <a:ea typeface="Microsoft YaHei"/>
              </a:rPr>
              <a:t>降幅</a:t>
            </a:r>
            <a:r>
              <a:rPr lang="en-US" sz="975">
                <a:solidFill>
                  <a:srgbClr val="7A7A7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7A7A7A"/>
                </a:solidFill>
                <a:latin typeface="Microsoft YaHei"/>
                <a:ea typeface="Microsoft YaHei"/>
              </a:rPr>
              <a:t>合计</a:t>
            </a:r>
            <a:r>
              <a:rPr lang="en-US" sz="975">
                <a:solidFill>
                  <a:srgbClr val="7A7A7A"/>
                </a:solidFill>
                <a:latin typeface="Microsoft YaHei"/>
                <a:ea typeface="Microsoft YaHei"/>
              </a:rPr>
              <a:t xml:space="preserve"> -5.42% </a:t>
            </a:r>
            <a:r>
              <a:rPr lang="zh-CN" sz="975">
                <a:solidFill>
                  <a:srgbClr val="7A7A7A"/>
                </a:solidFill>
                <a:latin typeface="Microsoft YaHei"/>
                <a:ea typeface="Microsoft YaHei"/>
              </a:rPr>
              <a:t>｜</a:t>
            </a:r>
            <a:r>
              <a:rPr lang="en-US" sz="975">
                <a:solidFill>
                  <a:srgbClr val="7A7A7A"/>
                </a:solidFill>
                <a:latin typeface="Microsoft YaHei"/>
                <a:ea typeface="Microsoft YaHei"/>
              </a:rPr>
              <a:t xml:space="preserve"> Prepare -13.19%</a:t>
            </a:r>
            <a:endParaRPr/>
          </a:p>
        </p:txBody>
      </p:sp>
      <p:pic>
        <p:nvPicPr>
          <p:cNvPr id="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" y="1047750"/>
            <a:ext cx="10668000" cy="1866900"/>
          </a:xfrm>
          <a:prstGeom prst="rect">
            <a:avLst/>
          </a:prstGeom>
          <a:ln/>
        </p:spPr>
      </p:pic>
      <p:sp>
        <p:nvSpPr>
          <p:cNvPr id="50" name=""/>
          <p:cNvSpPr/>
          <p:nvPr/>
        </p:nvSpPr>
        <p:spPr>
          <a:xfrm rot="0" flipH="0" flipV="0">
            <a:off x="762000" y="1200150"/>
            <a:ext cx="1600200" cy="7239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181100" y="1276350"/>
            <a:ext cx="7620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A1A1A"/>
                </a:solidFill>
                <a:latin typeface="Microsoft YaHei"/>
                <a:ea typeface="Microsoft YaHei"/>
              </a:rPr>
              <a:t>算子工程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000125" y="1619250"/>
            <a:ext cx="112395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125">
                <a:solidFill>
                  <a:srgbClr val="7A7A7A"/>
                </a:solidFill>
                <a:latin typeface="Microsoft YaHei"/>
                <a:ea typeface="Microsoft YaHei"/>
              </a:rPr>
              <a:t xml:space="preserve">GDN chunk </a:t>
            </a:r>
            <a:r>
              <a:rPr lang="zh-CN" sz="1125">
                <a:solidFill>
                  <a:srgbClr val="7A7A7A"/>
                </a:solidFill>
                <a:latin typeface="Microsoft YaHei"/>
                <a:ea typeface="Microsoft YaHei"/>
              </a:rPr>
              <a:t>算子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2819400" y="1200150"/>
            <a:ext cx="2590800" cy="723900"/>
          </a:xfrm>
          <a:prstGeom prst="roundRect">
            <a:avLst>
              <a:gd name="adj" fmla="val 7895"/>
            </a:avLst>
          </a:prstGeom>
          <a:solidFill>
            <a:srgbClr val="FDF2F2"/>
          </a:solidFill>
          <a:ln w="12700">
            <a:solidFill>
              <a:srgbClr val="C00000"/>
            </a:solidFill>
            <a:prstDash val="solid"/>
          </a:ln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3257550" y="1276350"/>
            <a:ext cx="172402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500" b="1">
                <a:solidFill>
                  <a:srgbClr val="C00000"/>
                </a:solidFill>
                <a:latin typeface="Microsoft YaHei"/>
                <a:ea typeface="Microsoft YaHei"/>
              </a:rPr>
              <a:t xml:space="preserve">Profiling </a:t>
            </a:r>
            <a:r>
              <a:rPr lang="zh-CN" sz="1500" b="1">
                <a:solidFill>
                  <a:srgbClr val="C00000"/>
                </a:solidFill>
                <a:latin typeface="Microsoft YaHei"/>
                <a:ea typeface="Microsoft YaHei"/>
              </a:rPr>
              <a:t>打点</a:t>
            </a:r>
            <a:r>
              <a:rPr lang="en-US" sz="1500" b="1">
                <a:solidFill>
                  <a:srgbClr val="C00000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3571875" y="1619250"/>
            <a:ext cx="1095375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>
                <a:solidFill>
                  <a:srgbClr val="8A6060"/>
                </a:solidFill>
                <a:latin typeface="Microsoft YaHei"/>
                <a:ea typeface="Microsoft YaHei"/>
              </a:rPr>
              <a:t>插桩</a:t>
            </a:r>
            <a:r>
              <a:rPr lang="en-US" sz="1125">
                <a:solidFill>
                  <a:srgbClr val="8A606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8A6060"/>
                </a:solidFill>
                <a:latin typeface="Microsoft YaHei"/>
                <a:ea typeface="Microsoft YaHei"/>
              </a:rPr>
              <a:t>采集</a:t>
            </a:r>
            <a:r>
              <a:rPr lang="en-US" sz="1125">
                <a:solidFill>
                  <a:srgbClr val="8A606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8A6060"/>
                </a:solidFill>
                <a:latin typeface="Microsoft YaHei"/>
                <a:ea typeface="Microsoft YaHei"/>
              </a:rPr>
              <a:t>归因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5867400" y="1200150"/>
            <a:ext cx="1600200" cy="7239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286500" y="1276350"/>
            <a:ext cx="7620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A1A1A"/>
                </a:solidFill>
                <a:latin typeface="Microsoft YaHei"/>
                <a:ea typeface="Microsoft YaHei"/>
              </a:rPr>
              <a:t>环境实测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181725" y="1619250"/>
            <a:ext cx="971550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25">
                <a:solidFill>
                  <a:srgbClr val="7A7A7A"/>
                </a:solidFill>
                <a:latin typeface="Microsoft YaHei"/>
                <a:ea typeface="Microsoft YaHei"/>
              </a:rPr>
              <a:t>真机</a:t>
            </a:r>
            <a:r>
              <a:rPr lang="en-US" sz="1125">
                <a:solidFill>
                  <a:srgbClr val="7A7A7A"/>
                </a:solidFill>
                <a:latin typeface="Microsoft YaHei"/>
                <a:ea typeface="Microsoft YaHei"/>
              </a:rPr>
              <a:t xml:space="preserve"> NPU </a:t>
            </a:r>
            <a:r>
              <a:rPr lang="zh-CN" sz="1125">
                <a:solidFill>
                  <a:srgbClr val="7A7A7A"/>
                </a:solidFill>
                <a:latin typeface="Microsoft YaHei"/>
                <a:ea typeface="Microsoft YaHei"/>
              </a:rPr>
              <a:t>跑测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153400" y="1447800"/>
            <a:ext cx="4572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成功？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9220200" y="1200150"/>
            <a:ext cx="1714500" cy="7239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9601200" y="1276350"/>
            <a:ext cx="9525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A1A1A"/>
                </a:solidFill>
                <a:latin typeface="Microsoft YaHei"/>
                <a:ea typeface="Microsoft YaHei"/>
              </a:rPr>
              <a:t>达收益预期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9677400" y="1619250"/>
            <a:ext cx="809625" cy="2286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125">
                <a:solidFill>
                  <a:srgbClr val="7A7A7A"/>
                </a:solidFill>
                <a:latin typeface="Microsoft YaHei"/>
                <a:ea typeface="Microsoft YaHei"/>
              </a:rPr>
              <a:t xml:space="preserve">AB </a:t>
            </a:r>
            <a:r>
              <a:rPr lang="zh-CN" sz="1125">
                <a:solidFill>
                  <a:srgbClr val="7A7A7A"/>
                </a:solidFill>
                <a:latin typeface="Microsoft YaHei"/>
                <a:ea typeface="Microsoft YaHei"/>
              </a:rPr>
              <a:t>实测确认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515350" y="2000250"/>
            <a:ext cx="64770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50">
                <a:solidFill>
                  <a:srgbClr val="C00000"/>
                </a:solidFill>
                <a:latin typeface="Microsoft YaHei"/>
                <a:ea typeface="Microsoft YaHei"/>
              </a:rPr>
              <a:t>否</a:t>
            </a:r>
            <a:r>
              <a:rPr lang="en-US" sz="1050">
                <a:solidFill>
                  <a:srgbClr val="C0000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C00000"/>
                </a:solidFill>
                <a:latin typeface="Microsoft YaHei"/>
                <a:ea typeface="Microsoft YaHei"/>
              </a:rPr>
              <a:t>未达标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858000" y="2266950"/>
            <a:ext cx="3048000" cy="6286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dash"/>
          </a:ln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010525" y="2324100"/>
            <a:ext cx="75247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C00000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350" b="1">
                <a:solidFill>
                  <a:srgbClr val="C00000"/>
                </a:solidFill>
                <a:latin typeface="Microsoft YaHei"/>
                <a:ea typeface="Microsoft YaHei"/>
              </a:rPr>
              <a:t>优化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953375" y="2638425"/>
            <a:ext cx="866775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>
                <a:solidFill>
                  <a:srgbClr val="8A6060"/>
                </a:solidFill>
                <a:latin typeface="Microsoft YaHei"/>
                <a:ea typeface="Microsoft YaHei"/>
              </a:rPr>
              <a:t>归因写回规则集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62000" y="2114550"/>
            <a:ext cx="320040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50" b="1">
                <a:solidFill>
                  <a:srgbClr val="C00000"/>
                </a:solidFill>
                <a:latin typeface="Microsoft YaHei"/>
                <a:ea typeface="Microsoft YaHei"/>
              </a:rPr>
              <a:t>归因回流</a:t>
            </a:r>
            <a:r>
              <a:rPr lang="en-US" sz="1050" b="1">
                <a:solidFill>
                  <a:srgbClr val="C0000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b="1">
                <a:solidFill>
                  <a:srgbClr val="C00000"/>
                </a:solidFill>
                <a:latin typeface="Microsoft YaHei"/>
                <a:ea typeface="Microsoft YaHei"/>
              </a:rPr>
              <a:t>重测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62000" y="2362200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9A9A9A"/>
                </a:solidFill>
                <a:latin typeface="Microsoft YaHei"/>
                <a:ea typeface="Microsoft YaHei"/>
              </a:rPr>
              <a:t>重跑的是「打点</a:t>
            </a:r>
            <a:r>
              <a:rPr lang="en-US" sz="975">
                <a:solidFill>
                  <a:srgbClr val="9A9A9A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9A9A9A"/>
                </a:solidFill>
                <a:latin typeface="Microsoft YaHei"/>
                <a:ea typeface="Microsoft YaHei"/>
              </a:rPr>
              <a:t>实测」这一对，不是只重测一次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62000" y="2628900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9A9A9A"/>
                </a:solidFill>
                <a:latin typeface="Microsoft YaHei"/>
                <a:ea typeface="Microsoft YaHei"/>
              </a:rPr>
              <a:t>所以回流箭头的终点是打点</a:t>
            </a:r>
            <a:r>
              <a:rPr lang="en-US" sz="975">
                <a:solidFill>
                  <a:srgbClr val="9A9A9A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975">
                <a:solidFill>
                  <a:srgbClr val="9A9A9A"/>
                </a:solidFill>
                <a:latin typeface="Microsoft YaHei"/>
                <a:ea typeface="Microsoft YaHei"/>
              </a:rPr>
              <a:t>，不是环境实测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2026-10-16T15:37:57Z</dcterms:created>
  <dcterms:modified xsi:type="dcterms:W3CDTF">2026-10-16T15:37:57Z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{"AIGC":{"Label":"1","ContentProducer":"00119111010856365494821B355","ProduceID":"01a1438bcf247a078ade290ca0bdbfa6","ReservedCode1":"","ContentPropagator":"00119111010856365494821B355","PropagateID":"01a1438bcf247a078ade290ca0bdbfa6","ReservedCode2":""}}</vt:lpwstr>
  </property>
</Properties>
</file>